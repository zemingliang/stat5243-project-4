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Knowhow A0 (cover).
This is the appendix deck. Twelve slides of technical depth I'd reach for if a question goes beyond the headline ten-minute talk. The index is on the cover so I can jump directly to a slide by number when prompted.
Routing rule: if the question is about methodology, anti-leakage, or a specific math choice (Dixon-Coles, Kelly, Brier), I have a slide for it. Otherwise I'll stay verbal.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 — Walk-forward CV. The picture on the right shows the expanding-window pattern: at fold k we train on the first k seasons, validate on season k+1, never let the future look back. Mean-over-folds is what we report. Per-season log-loss is in the appendix-of-the-appendix.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 — Why log-loss. Accuracy collapses confidence into 0/1, so it cannot tell a model that's barely correct from one that's screamingly correct. Log-loss is a proper scoring rule, the cost of being confidently wrong grows asymptotically, and that is exactly why Always-Home posts a catastrophic 22.4 on the leaderboard.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A3 — Brier decomposition. Reliability is calibration error in another guise. Resolution measures how much the model differentiates. Uncertainty is the irreducible noise floor of football. We compare reliability and resolution across models — a model can lose to the market on log-loss but still be better-calibrated on a particular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A4 — Dixon-Coles. Each team has an attack rating α and a defence frailty β. The home team's expected goal rate is exp of attack + opponent defence + γ home advantage. The tau correction multiplies the joint pmf for the four low-low scorelines so the model doesn't under-predict 0-0 / 1-0 / 0-1 / 1-1 — the well-known Maher-1982 weakness. We marginalise the joint to get H/D/A — the same model gives us both the exact-score prediction and the outcome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A5 — Decay. The exp-minus-lambda-times-days kernel down-weights old matches. Lambda equals 0.0065 per day was chosen by walk-forward log-loss; it gives a half-life around 107 days — roughly fourteen matches, which is a meaningful window of "current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A6 — Elo. Two strength signals. We use third-party ClubElo as the canonical rating and we re-derive our own Elo from results so we can audit the rating dynamics. The worked example on the right walks through Liverpool drawing 1-1 with Tottenham at home: Liverpool was the favourite, expected score 0.72, actual 0.5, so they drop 4.4 rating points and Tottenham gain the same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A7 — Vig + Kelly. Vig removal: bookmakers' implied probabilities don't sum to 1; you renormalise to recover a usable probability. Kelly sizing: the fraction that maximises expected log-bankroll. Full Kelly is too volatile so we cap at 5% — that's "fractional Kelly". We only place a bet when the edge is strictly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A8 — NLP attribution. Sentence-split, attribute each sentence to whichever team is mentioned uniquely in it, score with VADER, mean-aggregate. The mixed-mention sentences are deliberately dropped — they're noise. SpaCy NER runs once on the full doc for entity counts, and a small regex classifier flags red cards, penalties, VAR, injuries, and a generic controversy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A9 — PCA + K-means. PC1 is roughly possession-vs-counter, PC2 is roughly defensive-discipline. K=4 hits the elbow on inertia and the local max on silhouette. The archetypes drift across seasons — Leicester's title-winning team sits in cluster 1, but the same club sits in cluster 3 a year later. We feed the cluster ID and the two PCs to the supervised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A10 — Harmonisation. The classic football-data trap is silent mis-joins. We have a canonical dictionary, every variant is normalised before lookup, and unknown variants raise UnknownTeamError so the caller fails loudly instead of dropping rows quietly. CI runs this over every scraped row on every push, which catches new variants the moment a scraper picks them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A11 — Anti-leakage. The invariant is that any rolling feature for match m depends only on matches strictly older than m. The test builds the feature matrix twice — once with the whole dataset, once truncated to before our cutoff — and asserts the rolling features for the pre-cutoff matches are identical between the two runs. If they differ, future data must have leaked.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A12 — Deploy. Pre-bake every heavy artefact locally, commit the leaderboard CSV and model joblibs, pin the environment with requirements.txt, deploy via rsconnect-python, smoke-test once warm, paste the URL into slide 11 of the oral deck and the README. The deploy URL is a TODO until the night before — Posit Connect Cloud regenerates the URL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274320" y="0"/>
            <a:ext cx="36576" cy="5143500"/>
          </a:xfrm>
          <a:prstGeom prst="rect">
            <a:avLst/>
          </a:prstGeom>
          <a:solidFill>
            <a:srgbClr val="7FB3D5"/>
          </a:solidFill>
          <a:ln/>
        </p:spPr>
      </p:sp>
      <p:sp>
        <p:nvSpPr>
          <p:cNvPr id="4" name="Shape 2"/>
          <p:cNvSpPr/>
          <p:nvPr/>
        </p:nvSpPr>
        <p:spPr>
          <a:xfrm>
            <a:off x="384048" y="0"/>
            <a:ext cx="18288" cy="5143500"/>
          </a:xfrm>
          <a:prstGeom prst="rect">
            <a:avLst/>
          </a:prstGeom>
          <a:solidFill>
            <a:srgbClr val="E07A5F"/>
          </a:solidFill>
          <a:ln/>
        </p:spPr>
      </p:sp>
      <p:sp>
        <p:nvSpPr>
          <p:cNvPr id="5" name="Text 3"/>
          <p:cNvSpPr/>
          <p:nvPr/>
        </p:nvSpPr>
        <p:spPr>
          <a:xfrm>
            <a:off x="777240" y="502920"/>
            <a:ext cx="7589520" cy="274320"/>
          </a:xfrm>
          <a:prstGeom prst="rect">
            <a:avLst/>
          </a:prstGeom>
          <a:noFill/>
          <a:ln/>
        </p:spPr>
        <p:txBody>
          <a:bodyPr wrap="square" lIns="0" tIns="0" rIns="0" bIns="0" rtlCol="0" anchor="ctr"/>
          <a:lstStyle/>
          <a:p>
            <a:pPr indent="0" marL="0">
              <a:buNone/>
            </a:pPr>
            <a:r>
              <a:rPr lang="en-US" sz="1100" b="1" spc="500" kern="0" dirty="0">
                <a:solidFill>
                  <a:srgbClr val="B9D9EB"/>
                </a:solidFill>
                <a:latin typeface="Calibri" pitchFamily="34" charset="0"/>
                <a:ea typeface="Calibri" pitchFamily="34" charset="-122"/>
                <a:cs typeface="Calibri" pitchFamily="34" charset="-120"/>
              </a:rPr>
              <a:t>APPENDIX  ·  TECHNICAL DEPTH</a:t>
            </a:r>
            <a:endParaRPr lang="en-US" sz="1100" dirty="0"/>
          </a:p>
        </p:txBody>
      </p:sp>
      <p:sp>
        <p:nvSpPr>
          <p:cNvPr id="6" name="Text 4"/>
          <p:cNvSpPr/>
          <p:nvPr/>
        </p:nvSpPr>
        <p:spPr>
          <a:xfrm>
            <a:off x="777240" y="1005840"/>
            <a:ext cx="7589520" cy="1280160"/>
          </a:xfrm>
          <a:prstGeom prst="rect">
            <a:avLst/>
          </a:prstGeom>
          <a:noFill/>
          <a:ln/>
        </p:spPr>
        <p:txBody>
          <a:bodyPr wrap="square" lIns="0" tIns="0" rIns="0" bIns="0" rtlCol="0" anchor="ctr"/>
          <a:lstStyle/>
          <a:p>
            <a:pPr indent="0" marL="0">
              <a:buNone/>
            </a:pPr>
            <a:r>
              <a:rPr lang="en-US" sz="6400" b="1" dirty="0">
                <a:solidFill>
                  <a:srgbClr val="FFFFFF"/>
                </a:solidFill>
                <a:latin typeface="Georgia" pitchFamily="34" charset="0"/>
                <a:ea typeface="Georgia" pitchFamily="34" charset="-122"/>
                <a:cs typeface="Georgia" pitchFamily="34" charset="-120"/>
              </a:rPr>
              <a:t>Knowhow</a:t>
            </a:r>
            <a:endParaRPr lang="en-US" sz="6400" dirty="0"/>
          </a:p>
        </p:txBody>
      </p:sp>
      <p:sp>
        <p:nvSpPr>
          <p:cNvPr id="7" name="Shape 5"/>
          <p:cNvSpPr/>
          <p:nvPr/>
        </p:nvSpPr>
        <p:spPr>
          <a:xfrm>
            <a:off x="777240" y="2331720"/>
            <a:ext cx="1280160" cy="54864"/>
          </a:xfrm>
          <a:prstGeom prst="rect">
            <a:avLst/>
          </a:prstGeom>
          <a:solidFill>
            <a:srgbClr val="E07A5F"/>
          </a:solidFill>
          <a:ln/>
        </p:spPr>
      </p:sp>
      <p:sp>
        <p:nvSpPr>
          <p:cNvPr id="8" name="Text 6"/>
          <p:cNvSpPr/>
          <p:nvPr/>
        </p:nvSpPr>
        <p:spPr>
          <a:xfrm>
            <a:off x="777240" y="2514600"/>
            <a:ext cx="7589520" cy="731520"/>
          </a:xfrm>
          <a:prstGeom prst="rect">
            <a:avLst/>
          </a:prstGeom>
          <a:noFill/>
          <a:ln/>
        </p:spPr>
        <p:txBody>
          <a:bodyPr wrap="square" lIns="0" tIns="0" rIns="0" bIns="0" rtlCol="0" anchor="ctr"/>
          <a:lstStyle/>
          <a:p>
            <a:pPr indent="0" marL="0">
              <a:lnSpc>
                <a:spcPct val="130000"/>
              </a:lnSpc>
              <a:buNone/>
            </a:pPr>
            <a:r>
              <a:rPr lang="en-US" sz="1700" i="1" dirty="0">
                <a:solidFill>
                  <a:srgbClr val="B9D9EB"/>
                </a:solidFill>
                <a:latin typeface="Georgia" pitchFamily="34" charset="0"/>
                <a:ea typeface="Georgia" pitchFamily="34" charset="-122"/>
                <a:cs typeface="Georgia" pitchFamily="34" charset="-120"/>
              </a:rPr>
              <a:t>Twelve slides of the math, the tests, and the code patterns that back the headline numbers.</a:t>
            </a:r>
            <a:endParaRPr lang="en-US" sz="1700" dirty="0"/>
          </a:p>
        </p:txBody>
      </p:sp>
      <p:sp>
        <p:nvSpPr>
          <p:cNvPr id="9" name="Shape 7"/>
          <p:cNvSpPr/>
          <p:nvPr/>
        </p:nvSpPr>
        <p:spPr>
          <a:xfrm>
            <a:off x="777240" y="3520440"/>
            <a:ext cx="7589520" cy="1371600"/>
          </a:xfrm>
          <a:prstGeom prst="rect">
            <a:avLst/>
          </a:prstGeom>
          <a:solidFill>
            <a:srgbClr val="13315C"/>
          </a:solidFill>
          <a:ln/>
        </p:spPr>
      </p:sp>
      <p:sp>
        <p:nvSpPr>
          <p:cNvPr id="10" name="Shape 8"/>
          <p:cNvSpPr/>
          <p:nvPr/>
        </p:nvSpPr>
        <p:spPr>
          <a:xfrm>
            <a:off x="777240" y="3520440"/>
            <a:ext cx="54864" cy="1371600"/>
          </a:xfrm>
          <a:prstGeom prst="rect">
            <a:avLst/>
          </a:prstGeom>
          <a:solidFill>
            <a:srgbClr val="B9D9EB"/>
          </a:solidFill>
          <a:ln/>
        </p:spPr>
      </p:sp>
      <p:sp>
        <p:nvSpPr>
          <p:cNvPr id="11" name="Text 9"/>
          <p:cNvSpPr/>
          <p:nvPr/>
        </p:nvSpPr>
        <p:spPr>
          <a:xfrm>
            <a:off x="914400" y="3611880"/>
            <a:ext cx="1371600" cy="228600"/>
          </a:xfrm>
          <a:prstGeom prst="rect">
            <a:avLst/>
          </a:prstGeom>
          <a:noFill/>
          <a:ln/>
        </p:spPr>
        <p:txBody>
          <a:bodyPr wrap="square" lIns="0" tIns="0" rIns="0" bIns="0" rtlCol="0" anchor="ctr"/>
          <a:lstStyle/>
          <a:p>
            <a:pPr indent="0" marL="0">
              <a:buNone/>
            </a:pPr>
            <a:r>
              <a:rPr lang="en-US" sz="900" b="1" spc="400" kern="0" dirty="0">
                <a:solidFill>
                  <a:srgbClr val="B9D9EB"/>
                </a:solidFill>
                <a:latin typeface="Calibri" pitchFamily="34" charset="0"/>
                <a:ea typeface="Calibri" pitchFamily="34" charset="-122"/>
                <a:cs typeface="Calibri" pitchFamily="34" charset="-120"/>
              </a:rPr>
              <a:t>INDEX</a:t>
            </a:r>
            <a:endParaRPr lang="en-US" sz="900" dirty="0"/>
          </a:p>
        </p:txBody>
      </p:sp>
      <p:sp>
        <p:nvSpPr>
          <p:cNvPr id="12" name="Text 10"/>
          <p:cNvSpPr/>
          <p:nvPr/>
        </p:nvSpPr>
        <p:spPr>
          <a:xfrm>
            <a:off x="914400" y="3840480"/>
            <a:ext cx="7315200" cy="1005840"/>
          </a:xfrm>
          <a:prstGeom prst="rect">
            <a:avLst/>
          </a:prstGeom>
          <a:noFill/>
          <a:ln/>
        </p:spPr>
        <p:txBody>
          <a:bodyPr wrap="square" lIns="0" tIns="0" rIns="0" bIns="0" rtlCol="0" anchor="ctr"/>
          <a:lstStyle/>
          <a:p>
            <a:pPr indent="0" marL="0">
              <a:lnSpc>
                <a:spcPct val="140000"/>
              </a:lnSpc>
              <a:buNone/>
            </a:pPr>
            <a:r>
              <a:rPr lang="en-US" sz="1100" b="1" dirty="0">
                <a:solidFill>
                  <a:srgbClr val="E07A5F"/>
                </a:solidFill>
                <a:latin typeface="Calibri" pitchFamily="34" charset="0"/>
                <a:ea typeface="Calibri" pitchFamily="34" charset="-122"/>
                <a:cs typeface="Calibri" pitchFamily="34" charset="-120"/>
              </a:rPr>
              <a:t>A1 </a:t>
            </a:r>
            <a:pPr indent="0" marL="0">
              <a:lnSpc>
                <a:spcPct val="140000"/>
              </a:lnSpc>
              <a:buNone/>
            </a:pPr>
            <a:r>
              <a:rPr lang="en-US" sz="1100" dirty="0">
                <a:solidFill>
                  <a:srgbClr val="FFFFFF"/>
                </a:solidFill>
                <a:latin typeface="Calibri" pitchFamily="34" charset="0"/>
                <a:ea typeface="Calibri" pitchFamily="34" charset="-122"/>
                <a:cs typeface="Calibri" pitchFamily="34" charset="-120"/>
              </a:rPr>
              <a:t>Walk-forward CV   </a:t>
            </a:r>
            <a:pPr indent="0" marL="0">
              <a:lnSpc>
                <a:spcPct val="140000"/>
              </a:lnSpc>
              <a:buNone/>
            </a:pPr>
            <a:r>
              <a:rPr lang="en-US" sz="1100" b="1" dirty="0">
                <a:solidFill>
                  <a:srgbClr val="E07A5F"/>
                </a:solidFill>
                <a:latin typeface="Calibri" pitchFamily="34" charset="0"/>
                <a:ea typeface="Calibri" pitchFamily="34" charset="-122"/>
                <a:cs typeface="Calibri" pitchFamily="34" charset="-120"/>
              </a:rPr>
              <a:t>A2 </a:t>
            </a:r>
            <a:pPr indent="0" marL="0">
              <a:lnSpc>
                <a:spcPct val="140000"/>
              </a:lnSpc>
              <a:buNone/>
            </a:pPr>
            <a:r>
              <a:rPr lang="en-US" sz="1100" dirty="0">
                <a:solidFill>
                  <a:srgbClr val="FFFFFF"/>
                </a:solidFill>
                <a:latin typeface="Calibri" pitchFamily="34" charset="0"/>
                <a:ea typeface="Calibri" pitchFamily="34" charset="-122"/>
                <a:cs typeface="Calibri" pitchFamily="34" charset="-120"/>
              </a:rPr>
              <a:t>Log-loss vs accuracy   </a:t>
            </a:r>
            <a:pPr indent="0" marL="0">
              <a:lnSpc>
                <a:spcPct val="140000"/>
              </a:lnSpc>
              <a:buNone/>
            </a:pPr>
            <a:r>
              <a:rPr lang="en-US" sz="1100" b="1" dirty="0">
                <a:solidFill>
                  <a:srgbClr val="E07A5F"/>
                </a:solidFill>
                <a:latin typeface="Calibri" pitchFamily="34" charset="0"/>
                <a:ea typeface="Calibri" pitchFamily="34" charset="-122"/>
                <a:cs typeface="Calibri" pitchFamily="34" charset="-120"/>
              </a:rPr>
              <a:t>A3 </a:t>
            </a:r>
            <a:pPr indent="0" marL="0">
              <a:lnSpc>
                <a:spcPct val="140000"/>
              </a:lnSpc>
              <a:buNone/>
            </a:pPr>
            <a:r>
              <a:rPr lang="en-US" sz="1100" dirty="0">
                <a:solidFill>
                  <a:srgbClr val="FFFFFF"/>
                </a:solidFill>
                <a:latin typeface="Calibri" pitchFamily="34" charset="0"/>
                <a:ea typeface="Calibri" pitchFamily="34" charset="-122"/>
                <a:cs typeface="Calibri" pitchFamily="34" charset="-120"/>
              </a:rPr>
              <a:t>Brier decomposition
</a:t>
            </a:r>
            <a:pPr indent="0" marL="0">
              <a:lnSpc>
                <a:spcPct val="140000"/>
              </a:lnSpc>
              <a:buNone/>
            </a:pPr>
            <a:r>
              <a:rPr lang="en-US" sz="1100" b="1" dirty="0">
                <a:solidFill>
                  <a:srgbClr val="E07A5F"/>
                </a:solidFill>
                <a:latin typeface="Calibri" pitchFamily="34" charset="0"/>
                <a:ea typeface="Calibri" pitchFamily="34" charset="-122"/>
                <a:cs typeface="Calibri" pitchFamily="34" charset="-120"/>
              </a:rPr>
              <a:t>A4 </a:t>
            </a:r>
            <a:pPr indent="0" marL="0">
              <a:lnSpc>
                <a:spcPct val="140000"/>
              </a:lnSpc>
              <a:buNone/>
            </a:pPr>
            <a:r>
              <a:rPr lang="en-US" sz="1100" dirty="0">
                <a:solidFill>
                  <a:srgbClr val="FFFFFF"/>
                </a:solidFill>
                <a:latin typeface="Calibri" pitchFamily="34" charset="0"/>
                <a:ea typeface="Calibri" pitchFamily="34" charset="-122"/>
                <a:cs typeface="Calibri" pitchFamily="34" charset="-120"/>
              </a:rPr>
              <a:t>Dixon-Coles math   </a:t>
            </a:r>
            <a:pPr indent="0" marL="0">
              <a:lnSpc>
                <a:spcPct val="140000"/>
              </a:lnSpc>
              <a:buNone/>
            </a:pPr>
            <a:r>
              <a:rPr lang="en-US" sz="1100" b="1" dirty="0">
                <a:solidFill>
                  <a:srgbClr val="E07A5F"/>
                </a:solidFill>
                <a:latin typeface="Calibri" pitchFamily="34" charset="0"/>
                <a:ea typeface="Calibri" pitchFamily="34" charset="-122"/>
                <a:cs typeface="Calibri" pitchFamily="34" charset="-120"/>
              </a:rPr>
              <a:t>A5 </a:t>
            </a:r>
            <a:pPr indent="0" marL="0">
              <a:lnSpc>
                <a:spcPct val="140000"/>
              </a:lnSpc>
              <a:buNone/>
            </a:pPr>
            <a:r>
              <a:rPr lang="en-US" sz="1100" dirty="0">
                <a:solidFill>
                  <a:srgbClr val="FFFFFF"/>
                </a:solidFill>
                <a:latin typeface="Calibri" pitchFamily="34" charset="0"/>
                <a:ea typeface="Calibri" pitchFamily="34" charset="-122"/>
                <a:cs typeface="Calibri" pitchFamily="34" charset="-120"/>
              </a:rPr>
              <a:t>Time-decay weighting   </a:t>
            </a:r>
            <a:pPr indent="0" marL="0">
              <a:lnSpc>
                <a:spcPct val="140000"/>
              </a:lnSpc>
              <a:buNone/>
            </a:pPr>
            <a:r>
              <a:rPr lang="en-US" sz="1100" b="1" dirty="0">
                <a:solidFill>
                  <a:srgbClr val="E07A5F"/>
                </a:solidFill>
                <a:latin typeface="Calibri" pitchFamily="34" charset="0"/>
                <a:ea typeface="Calibri" pitchFamily="34" charset="-122"/>
                <a:cs typeface="Calibri" pitchFamily="34" charset="-120"/>
              </a:rPr>
              <a:t>A6 </a:t>
            </a:r>
            <a:pPr indent="0" marL="0">
              <a:lnSpc>
                <a:spcPct val="140000"/>
              </a:lnSpc>
              <a:buNone/>
            </a:pPr>
            <a:r>
              <a:rPr lang="en-US" sz="1100" dirty="0">
                <a:solidFill>
                  <a:srgbClr val="FFFFFF"/>
                </a:solidFill>
                <a:latin typeface="Calibri" pitchFamily="34" charset="0"/>
                <a:ea typeface="Calibri" pitchFamily="34" charset="-122"/>
                <a:cs typeface="Calibri" pitchFamily="34" charset="-120"/>
              </a:rPr>
              <a:t>ClubElo update
</a:t>
            </a:r>
            <a:pPr indent="0" marL="0">
              <a:lnSpc>
                <a:spcPct val="140000"/>
              </a:lnSpc>
              <a:buNone/>
            </a:pPr>
            <a:r>
              <a:rPr lang="en-US" sz="1100" b="1" dirty="0">
                <a:solidFill>
                  <a:srgbClr val="E07A5F"/>
                </a:solidFill>
                <a:latin typeface="Calibri" pitchFamily="34" charset="0"/>
                <a:ea typeface="Calibri" pitchFamily="34" charset="-122"/>
                <a:cs typeface="Calibri" pitchFamily="34" charset="-120"/>
              </a:rPr>
              <a:t>A7 </a:t>
            </a:r>
            <a:pPr indent="0" marL="0">
              <a:lnSpc>
                <a:spcPct val="140000"/>
              </a:lnSpc>
              <a:buNone/>
            </a:pPr>
            <a:r>
              <a:rPr lang="en-US" sz="1100" dirty="0">
                <a:solidFill>
                  <a:srgbClr val="FFFFFF"/>
                </a:solidFill>
                <a:latin typeface="Calibri" pitchFamily="34" charset="0"/>
                <a:ea typeface="Calibri" pitchFamily="34" charset="-122"/>
                <a:cs typeface="Calibri" pitchFamily="34" charset="-120"/>
              </a:rPr>
              <a:t>Vig removal + Kelly   </a:t>
            </a:r>
            <a:pPr indent="0" marL="0">
              <a:lnSpc>
                <a:spcPct val="140000"/>
              </a:lnSpc>
              <a:buNone/>
            </a:pPr>
            <a:r>
              <a:rPr lang="en-US" sz="1100" b="1" dirty="0">
                <a:solidFill>
                  <a:srgbClr val="E07A5F"/>
                </a:solidFill>
                <a:latin typeface="Calibri" pitchFamily="34" charset="0"/>
                <a:ea typeface="Calibri" pitchFamily="34" charset="-122"/>
                <a:cs typeface="Calibri" pitchFamily="34" charset="-120"/>
              </a:rPr>
              <a:t>A8 </a:t>
            </a:r>
            <a:pPr indent="0" marL="0">
              <a:lnSpc>
                <a:spcPct val="140000"/>
              </a:lnSpc>
              <a:buNone/>
            </a:pPr>
            <a:r>
              <a:rPr lang="en-US" sz="1100" dirty="0">
                <a:solidFill>
                  <a:srgbClr val="FFFFFF"/>
                </a:solidFill>
                <a:latin typeface="Calibri" pitchFamily="34" charset="0"/>
                <a:ea typeface="Calibri" pitchFamily="34" charset="-122"/>
                <a:cs typeface="Calibri" pitchFamily="34" charset="-120"/>
              </a:rPr>
              <a:t>NLP attribution   </a:t>
            </a:r>
            <a:pPr indent="0" marL="0">
              <a:lnSpc>
                <a:spcPct val="140000"/>
              </a:lnSpc>
              <a:buNone/>
            </a:pPr>
            <a:r>
              <a:rPr lang="en-US" sz="1100" b="1" dirty="0">
                <a:solidFill>
                  <a:srgbClr val="E07A5F"/>
                </a:solidFill>
                <a:latin typeface="Calibri" pitchFamily="34" charset="0"/>
                <a:ea typeface="Calibri" pitchFamily="34" charset="-122"/>
                <a:cs typeface="Calibri" pitchFamily="34" charset="-120"/>
              </a:rPr>
              <a:t>A9 </a:t>
            </a:r>
            <a:pPr indent="0" marL="0">
              <a:lnSpc>
                <a:spcPct val="140000"/>
              </a:lnSpc>
              <a:buNone/>
            </a:pPr>
            <a:r>
              <a:rPr lang="en-US" sz="1100" dirty="0">
                <a:solidFill>
                  <a:srgbClr val="FFFFFF"/>
                </a:solidFill>
                <a:latin typeface="Calibri" pitchFamily="34" charset="0"/>
                <a:ea typeface="Calibri" pitchFamily="34" charset="-122"/>
                <a:cs typeface="Calibri" pitchFamily="34" charset="-120"/>
              </a:rPr>
              <a:t>PCA + K-means clusters
</a:t>
            </a:r>
            <a:pPr indent="0" marL="0">
              <a:lnSpc>
                <a:spcPct val="140000"/>
              </a:lnSpc>
              <a:buNone/>
            </a:pPr>
            <a:r>
              <a:rPr lang="en-US" sz="1100" b="1" dirty="0">
                <a:solidFill>
                  <a:srgbClr val="E07A5F"/>
                </a:solidFill>
                <a:latin typeface="Calibri" pitchFamily="34" charset="0"/>
                <a:ea typeface="Calibri" pitchFamily="34" charset="-122"/>
                <a:cs typeface="Calibri" pitchFamily="34" charset="-120"/>
              </a:rPr>
              <a:t>A10 </a:t>
            </a:r>
            <a:pPr indent="0" marL="0">
              <a:lnSpc>
                <a:spcPct val="140000"/>
              </a:lnSpc>
              <a:buNone/>
            </a:pPr>
            <a:r>
              <a:rPr lang="en-US" sz="1100" dirty="0">
                <a:solidFill>
                  <a:srgbClr val="FFFFFF"/>
                </a:solidFill>
                <a:latin typeface="Calibri" pitchFamily="34" charset="0"/>
                <a:ea typeface="Calibri" pitchFamily="34" charset="-122"/>
                <a:cs typeface="Calibri" pitchFamily="34" charset="-120"/>
              </a:rPr>
              <a:t>Team-name harmonisation   </a:t>
            </a:r>
            <a:pPr indent="0" marL="0">
              <a:lnSpc>
                <a:spcPct val="140000"/>
              </a:lnSpc>
              <a:buNone/>
            </a:pPr>
            <a:r>
              <a:rPr lang="en-US" sz="1100" b="1" dirty="0">
                <a:solidFill>
                  <a:srgbClr val="E07A5F"/>
                </a:solidFill>
                <a:latin typeface="Calibri" pitchFamily="34" charset="0"/>
                <a:ea typeface="Calibri" pitchFamily="34" charset="-122"/>
                <a:cs typeface="Calibri" pitchFamily="34" charset="-120"/>
              </a:rPr>
              <a:t>A11 </a:t>
            </a:r>
            <a:pPr indent="0" marL="0">
              <a:lnSpc>
                <a:spcPct val="140000"/>
              </a:lnSpc>
              <a:buNone/>
            </a:pPr>
            <a:r>
              <a:rPr lang="en-US" sz="1100" dirty="0">
                <a:solidFill>
                  <a:srgbClr val="FFFFFF"/>
                </a:solidFill>
                <a:latin typeface="Calibri" pitchFamily="34" charset="0"/>
                <a:ea typeface="Calibri" pitchFamily="34" charset="-122"/>
                <a:cs typeface="Calibri" pitchFamily="34" charset="-120"/>
              </a:rPr>
              <a:t>Anti-leakage unit test   </a:t>
            </a:r>
            <a:pPr indent="0" marL="0">
              <a:lnSpc>
                <a:spcPct val="140000"/>
              </a:lnSpc>
              <a:buNone/>
            </a:pPr>
            <a:r>
              <a:rPr lang="en-US" sz="1100" b="1" dirty="0">
                <a:solidFill>
                  <a:srgbClr val="E07A5F"/>
                </a:solidFill>
                <a:latin typeface="Calibri" pitchFamily="34" charset="0"/>
                <a:ea typeface="Calibri" pitchFamily="34" charset="-122"/>
                <a:cs typeface="Calibri" pitchFamily="34" charset="-120"/>
              </a:rPr>
              <a:t>A12 </a:t>
            </a:r>
            <a:pPr indent="0" marL="0">
              <a:lnSpc>
                <a:spcPct val="140000"/>
              </a:lnSpc>
              <a:buNone/>
            </a:pPr>
            <a:r>
              <a:rPr lang="en-US" sz="1100" dirty="0">
                <a:solidFill>
                  <a:srgbClr val="FFFFFF"/>
                </a:solidFill>
                <a:latin typeface="Calibri" pitchFamily="34" charset="0"/>
                <a:ea typeface="Calibri" pitchFamily="34" charset="-122"/>
                <a:cs typeface="Calibri" pitchFamily="34" charset="-120"/>
              </a:rPr>
              <a:t>Posit Cloud deploy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Knowhow Appendix   ·   Liang · Chen · Collaborator</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A1 / A12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A1  ·  VALIDATION</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0B2545"/>
                </a:solidFill>
                <a:latin typeface="Georgia" pitchFamily="34" charset="0"/>
                <a:ea typeface="Georgia" pitchFamily="34" charset="-122"/>
                <a:cs typeface="Georgia" pitchFamily="34" charset="-120"/>
              </a:rPr>
              <a:t>Walk-forward CV — never k-fold</a:t>
            </a:r>
            <a:endParaRPr lang="en-US" sz="2600" dirty="0"/>
          </a:p>
        </p:txBody>
      </p:sp>
      <p:sp>
        <p:nvSpPr>
          <p:cNvPr id="8" name="Text 6"/>
          <p:cNvSpPr/>
          <p:nvPr/>
        </p:nvSpPr>
        <p:spPr>
          <a:xfrm>
            <a:off x="457200" y="1325880"/>
            <a:ext cx="4206240" cy="3246120"/>
          </a:xfrm>
          <a:prstGeom prst="rect">
            <a:avLst/>
          </a:prstGeom>
          <a:noFill/>
          <a:ln/>
        </p:spPr>
        <p:txBody>
          <a:bodyPr wrap="square" lIns="0" tIns="0" rIns="0" bIns="0" rtlCol="0" anchor="ctr"/>
          <a:lstStyle/>
          <a:p>
            <a:pPr indent="0" marL="0">
              <a:lnSpc>
                <a:spcPct val="130000"/>
              </a:lnSpc>
              <a:buNone/>
            </a:pPr>
            <a:r>
              <a:rPr lang="en-US" sz="1200" b="1" dirty="0">
                <a:solidFill>
                  <a:srgbClr val="0B2545"/>
                </a:solidFill>
                <a:latin typeface="Calibri" pitchFamily="34" charset="0"/>
                <a:ea typeface="Calibri" pitchFamily="34" charset="-122"/>
                <a:cs typeface="Calibri" pitchFamily="34" charset="-120"/>
              </a:rPr>
              <a:t>Random k-fold leaks the future.
</a:t>
            </a:r>
            <a:pPr indent="0" marL="0">
              <a:lnSpc>
                <a:spcPct val="130000"/>
              </a:lnSpc>
              <a:buNone/>
            </a:pPr>
            <a:r>
              <a:rPr lang="en-US" sz="1200" dirty="0">
                <a:solidFill>
                  <a:srgbClr val="1F2933"/>
                </a:solidFill>
                <a:latin typeface="Calibri" pitchFamily="34" charset="0"/>
                <a:ea typeface="Calibri" pitchFamily="34" charset="-122"/>
                <a:cs typeface="Calibri" pitchFamily="34" charset="-120"/>
              </a:rPr>
              <a:t>Folds drawn uniformly mix matches from 2020 with matches from 2010 — the model can use a 2020 home-form average to predict a 2010 outcome.
</a:t>
            </a:r>
            <a:pPr indent="0" marL="0">
              <a:lnSpc>
                <a:spcPct val="130000"/>
              </a:lnSpc>
              <a:buNone/>
            </a:pPr>
            <a:r>
              <a:rPr lang="en-US" sz="1200" b="1" dirty="0">
                <a:solidFill>
                  <a:srgbClr val="0B2545"/>
                </a:solidFill>
                <a:latin typeface="Calibri" pitchFamily="34" charset="0"/>
                <a:ea typeface="Calibri" pitchFamily="34" charset="-122"/>
                <a:cs typeface="Calibri" pitchFamily="34" charset="-120"/>
              </a:rPr>
              <a:t>
Walk-forward expanding window.
</a:t>
            </a:r>
            <a:pPr indent="0" marL="0">
              <a:lnSpc>
                <a:spcPct val="130000"/>
              </a:lnSpc>
              <a:buNone/>
            </a:pPr>
            <a:r>
              <a:rPr lang="en-US" sz="1200" dirty="0">
                <a:solidFill>
                  <a:srgbClr val="1F2933"/>
                </a:solidFill>
                <a:latin typeface="Calibri" pitchFamily="34" charset="0"/>
                <a:ea typeface="Calibri" pitchFamily="34" charset="-122"/>
                <a:cs typeface="Calibri" pitchFamily="34" charset="-120"/>
              </a:rPr>
              <a:t>At fold k, train on seasons 1..k, validate on season k+1. Mirrors how the model would actually be used in production: every prediction uses only data available before kickoff.
</a:t>
            </a:r>
            <a:pPr indent="0" marL="0">
              <a:lnSpc>
                <a:spcPct val="130000"/>
              </a:lnSpc>
              <a:buNone/>
            </a:pPr>
            <a:endParaRPr lang="en-US" sz="1200" dirty="0"/>
          </a:p>
          <a:p>
            <a:pPr indent="0" marL="0">
              <a:lnSpc>
                <a:spcPct val="130000"/>
              </a:lnSpc>
              <a:buNone/>
            </a:pPr>
            <a:r>
              <a:rPr lang="en-US" sz="1200" i="1" dirty="0">
                <a:solidFill>
                  <a:srgbClr val="5A6573"/>
                </a:solidFill>
                <a:latin typeface="Calibri" pitchFamily="34" charset="0"/>
                <a:ea typeface="Calibri" pitchFamily="34" charset="-122"/>
                <a:cs typeface="Calibri" pitchFamily="34" charset="-120"/>
              </a:rPr>
              <a:t>Reported metric is the mean over folds; we also report per-season log-loss to show stability across the test windows.</a:t>
            </a:r>
            <a:endParaRPr lang="en-US" sz="1200" dirty="0"/>
          </a:p>
        </p:txBody>
      </p:sp>
      <p:sp>
        <p:nvSpPr>
          <p:cNvPr id="9" name="Text 7"/>
          <p:cNvSpPr/>
          <p:nvPr/>
        </p:nvSpPr>
        <p:spPr>
          <a:xfrm>
            <a:off x="5029200" y="1371600"/>
            <a:ext cx="731520" cy="274320"/>
          </a:xfrm>
          <a:prstGeom prst="rect">
            <a:avLst/>
          </a:prstGeom>
          <a:noFill/>
          <a:ln/>
        </p:spPr>
        <p:txBody>
          <a:bodyPr wrap="square" lIns="0" tIns="0" rIns="0" bIns="0" rtlCol="0" anchor="ctr"/>
          <a:lstStyle/>
          <a:p>
            <a:pPr algn="ctr" indent="0" marL="0">
              <a:buNone/>
            </a:pPr>
            <a:r>
              <a:rPr lang="en-US" sz="900" b="1" dirty="0">
                <a:solidFill>
                  <a:srgbClr val="5A6573"/>
                </a:solidFill>
                <a:latin typeface="Calibri" pitchFamily="34" charset="0"/>
                <a:ea typeface="Calibri" pitchFamily="34" charset="-122"/>
                <a:cs typeface="Calibri" pitchFamily="34" charset="-120"/>
              </a:rPr>
              <a:t>Season 1</a:t>
            </a:r>
            <a:endParaRPr lang="en-US" sz="900" dirty="0"/>
          </a:p>
        </p:txBody>
      </p:sp>
      <p:sp>
        <p:nvSpPr>
          <p:cNvPr id="10" name="Text 8"/>
          <p:cNvSpPr/>
          <p:nvPr/>
        </p:nvSpPr>
        <p:spPr>
          <a:xfrm>
            <a:off x="5760720" y="1371600"/>
            <a:ext cx="731520" cy="274320"/>
          </a:xfrm>
          <a:prstGeom prst="rect">
            <a:avLst/>
          </a:prstGeom>
          <a:noFill/>
          <a:ln/>
        </p:spPr>
        <p:txBody>
          <a:bodyPr wrap="square" lIns="0" tIns="0" rIns="0" bIns="0" rtlCol="0" anchor="ctr"/>
          <a:lstStyle/>
          <a:p>
            <a:pPr algn="ctr" indent="0" marL="0">
              <a:buNone/>
            </a:pPr>
            <a:r>
              <a:rPr lang="en-US" sz="900" b="1" dirty="0">
                <a:solidFill>
                  <a:srgbClr val="5A6573"/>
                </a:solidFill>
                <a:latin typeface="Calibri" pitchFamily="34" charset="0"/>
                <a:ea typeface="Calibri" pitchFamily="34" charset="-122"/>
                <a:cs typeface="Calibri" pitchFamily="34" charset="-120"/>
              </a:rPr>
              <a:t>Season 2</a:t>
            </a:r>
            <a:endParaRPr lang="en-US" sz="900" dirty="0"/>
          </a:p>
        </p:txBody>
      </p:sp>
      <p:sp>
        <p:nvSpPr>
          <p:cNvPr id="11" name="Text 9"/>
          <p:cNvSpPr/>
          <p:nvPr/>
        </p:nvSpPr>
        <p:spPr>
          <a:xfrm>
            <a:off x="6492240" y="1371600"/>
            <a:ext cx="731520" cy="274320"/>
          </a:xfrm>
          <a:prstGeom prst="rect">
            <a:avLst/>
          </a:prstGeom>
          <a:noFill/>
          <a:ln/>
        </p:spPr>
        <p:txBody>
          <a:bodyPr wrap="square" lIns="0" tIns="0" rIns="0" bIns="0" rtlCol="0" anchor="ctr"/>
          <a:lstStyle/>
          <a:p>
            <a:pPr algn="ctr" indent="0" marL="0">
              <a:buNone/>
            </a:pPr>
            <a:r>
              <a:rPr lang="en-US" sz="900" b="1" dirty="0">
                <a:solidFill>
                  <a:srgbClr val="5A6573"/>
                </a:solidFill>
                <a:latin typeface="Calibri" pitchFamily="34" charset="0"/>
                <a:ea typeface="Calibri" pitchFamily="34" charset="-122"/>
                <a:cs typeface="Calibri" pitchFamily="34" charset="-120"/>
              </a:rPr>
              <a:t>Season 3</a:t>
            </a:r>
            <a:endParaRPr lang="en-US" sz="900" dirty="0"/>
          </a:p>
        </p:txBody>
      </p:sp>
      <p:sp>
        <p:nvSpPr>
          <p:cNvPr id="12" name="Text 10"/>
          <p:cNvSpPr/>
          <p:nvPr/>
        </p:nvSpPr>
        <p:spPr>
          <a:xfrm>
            <a:off x="7223760" y="1371600"/>
            <a:ext cx="731520" cy="274320"/>
          </a:xfrm>
          <a:prstGeom prst="rect">
            <a:avLst/>
          </a:prstGeom>
          <a:noFill/>
          <a:ln/>
        </p:spPr>
        <p:txBody>
          <a:bodyPr wrap="square" lIns="0" tIns="0" rIns="0" bIns="0" rtlCol="0" anchor="ctr"/>
          <a:lstStyle/>
          <a:p>
            <a:pPr algn="ctr" indent="0" marL="0">
              <a:buNone/>
            </a:pPr>
            <a:r>
              <a:rPr lang="en-US" sz="900" b="1" dirty="0">
                <a:solidFill>
                  <a:srgbClr val="5A6573"/>
                </a:solidFill>
                <a:latin typeface="Calibri" pitchFamily="34" charset="0"/>
                <a:ea typeface="Calibri" pitchFamily="34" charset="-122"/>
                <a:cs typeface="Calibri" pitchFamily="34" charset="-120"/>
              </a:rPr>
              <a:t>Season 4</a:t>
            </a:r>
            <a:endParaRPr lang="en-US" sz="900" dirty="0"/>
          </a:p>
        </p:txBody>
      </p:sp>
      <p:sp>
        <p:nvSpPr>
          <p:cNvPr id="13" name="Text 11"/>
          <p:cNvSpPr/>
          <p:nvPr/>
        </p:nvSpPr>
        <p:spPr>
          <a:xfrm>
            <a:off x="7955280" y="1371600"/>
            <a:ext cx="731520" cy="274320"/>
          </a:xfrm>
          <a:prstGeom prst="rect">
            <a:avLst/>
          </a:prstGeom>
          <a:noFill/>
          <a:ln/>
        </p:spPr>
        <p:txBody>
          <a:bodyPr wrap="square" lIns="0" tIns="0" rIns="0" bIns="0" rtlCol="0" anchor="ctr"/>
          <a:lstStyle/>
          <a:p>
            <a:pPr algn="ctr" indent="0" marL="0">
              <a:buNone/>
            </a:pPr>
            <a:r>
              <a:rPr lang="en-US" sz="900" b="1" dirty="0">
                <a:solidFill>
                  <a:srgbClr val="5A6573"/>
                </a:solidFill>
                <a:latin typeface="Calibri" pitchFamily="34" charset="0"/>
                <a:ea typeface="Calibri" pitchFamily="34" charset="-122"/>
                <a:cs typeface="Calibri" pitchFamily="34" charset="-120"/>
              </a:rPr>
              <a:t>Season 5</a:t>
            </a:r>
            <a:endParaRPr lang="en-US" sz="900" dirty="0"/>
          </a:p>
        </p:txBody>
      </p:sp>
      <p:sp>
        <p:nvSpPr>
          <p:cNvPr id="14" name="Shape 12"/>
          <p:cNvSpPr/>
          <p:nvPr/>
        </p:nvSpPr>
        <p:spPr>
          <a:xfrm>
            <a:off x="5056632" y="1737360"/>
            <a:ext cx="676656" cy="411480"/>
          </a:xfrm>
          <a:prstGeom prst="rect">
            <a:avLst/>
          </a:prstGeom>
          <a:solidFill>
            <a:srgbClr val="13315C"/>
          </a:solidFill>
          <a:ln w="6350">
            <a:solidFill>
              <a:srgbClr val="D7DEE5"/>
            </a:solidFill>
            <a:prstDash val="solid"/>
          </a:ln>
        </p:spPr>
      </p:sp>
      <p:sp>
        <p:nvSpPr>
          <p:cNvPr id="15" name="Shape 13"/>
          <p:cNvSpPr/>
          <p:nvPr/>
        </p:nvSpPr>
        <p:spPr>
          <a:xfrm>
            <a:off x="5788152" y="1737360"/>
            <a:ext cx="676656" cy="411480"/>
          </a:xfrm>
          <a:prstGeom prst="rect">
            <a:avLst/>
          </a:prstGeom>
          <a:solidFill>
            <a:srgbClr val="E07A5F"/>
          </a:solidFill>
          <a:ln w="6350">
            <a:solidFill>
              <a:srgbClr val="D7DEE5"/>
            </a:solidFill>
            <a:prstDash val="solid"/>
          </a:ln>
        </p:spPr>
      </p:sp>
      <p:sp>
        <p:nvSpPr>
          <p:cNvPr id="16" name="Shape 14"/>
          <p:cNvSpPr/>
          <p:nvPr/>
        </p:nvSpPr>
        <p:spPr>
          <a:xfrm>
            <a:off x="6519672" y="1737360"/>
            <a:ext cx="676656" cy="411480"/>
          </a:xfrm>
          <a:prstGeom prst="rect">
            <a:avLst/>
          </a:prstGeom>
          <a:solidFill>
            <a:srgbClr val="F5F7FA"/>
          </a:solidFill>
          <a:ln w="6350">
            <a:solidFill>
              <a:srgbClr val="D7DEE5"/>
            </a:solidFill>
            <a:prstDash val="solid"/>
          </a:ln>
        </p:spPr>
      </p:sp>
      <p:sp>
        <p:nvSpPr>
          <p:cNvPr id="17" name="Shape 15"/>
          <p:cNvSpPr/>
          <p:nvPr/>
        </p:nvSpPr>
        <p:spPr>
          <a:xfrm>
            <a:off x="7251192" y="1737360"/>
            <a:ext cx="676656" cy="411480"/>
          </a:xfrm>
          <a:prstGeom prst="rect">
            <a:avLst/>
          </a:prstGeom>
          <a:solidFill>
            <a:srgbClr val="F5F7FA"/>
          </a:solidFill>
          <a:ln w="6350">
            <a:solidFill>
              <a:srgbClr val="D7DEE5"/>
            </a:solidFill>
            <a:prstDash val="solid"/>
          </a:ln>
        </p:spPr>
      </p:sp>
      <p:sp>
        <p:nvSpPr>
          <p:cNvPr id="18" name="Shape 16"/>
          <p:cNvSpPr/>
          <p:nvPr/>
        </p:nvSpPr>
        <p:spPr>
          <a:xfrm>
            <a:off x="7982712" y="1737360"/>
            <a:ext cx="676656" cy="411480"/>
          </a:xfrm>
          <a:prstGeom prst="rect">
            <a:avLst/>
          </a:prstGeom>
          <a:solidFill>
            <a:srgbClr val="F5F7FA"/>
          </a:solidFill>
          <a:ln w="6350">
            <a:solidFill>
              <a:srgbClr val="D7DEE5"/>
            </a:solidFill>
            <a:prstDash val="solid"/>
          </a:ln>
        </p:spPr>
      </p:sp>
      <p:sp>
        <p:nvSpPr>
          <p:cNvPr id="19" name="Text 17"/>
          <p:cNvSpPr/>
          <p:nvPr/>
        </p:nvSpPr>
        <p:spPr>
          <a:xfrm>
            <a:off x="4251960" y="1737360"/>
            <a:ext cx="731520" cy="411480"/>
          </a:xfrm>
          <a:prstGeom prst="rect">
            <a:avLst/>
          </a:prstGeom>
          <a:noFill/>
          <a:ln/>
        </p:spPr>
        <p:txBody>
          <a:bodyPr wrap="square" lIns="0" tIns="0" rIns="0" bIns="0" rtlCol="0" anchor="ctr"/>
          <a:lstStyle/>
          <a:p>
            <a:pPr algn="r" indent="0" marL="0">
              <a:buNone/>
            </a:pPr>
            <a:r>
              <a:rPr lang="en-US" sz="1000" b="1" dirty="0">
                <a:solidFill>
                  <a:srgbClr val="0B2545"/>
                </a:solidFill>
                <a:latin typeface="Calibri" pitchFamily="34" charset="0"/>
                <a:ea typeface="Calibri" pitchFamily="34" charset="-122"/>
                <a:cs typeface="Calibri" pitchFamily="34" charset="-120"/>
              </a:rPr>
              <a:t>Fold 1</a:t>
            </a:r>
            <a:endParaRPr lang="en-US" sz="1000" dirty="0"/>
          </a:p>
        </p:txBody>
      </p:sp>
      <p:sp>
        <p:nvSpPr>
          <p:cNvPr id="20" name="Shape 18"/>
          <p:cNvSpPr/>
          <p:nvPr/>
        </p:nvSpPr>
        <p:spPr>
          <a:xfrm>
            <a:off x="5056632" y="2240280"/>
            <a:ext cx="676656" cy="411480"/>
          </a:xfrm>
          <a:prstGeom prst="rect">
            <a:avLst/>
          </a:prstGeom>
          <a:solidFill>
            <a:srgbClr val="13315C"/>
          </a:solidFill>
          <a:ln w="6350">
            <a:solidFill>
              <a:srgbClr val="D7DEE5"/>
            </a:solidFill>
            <a:prstDash val="solid"/>
          </a:ln>
        </p:spPr>
      </p:sp>
      <p:sp>
        <p:nvSpPr>
          <p:cNvPr id="21" name="Shape 19"/>
          <p:cNvSpPr/>
          <p:nvPr/>
        </p:nvSpPr>
        <p:spPr>
          <a:xfrm>
            <a:off x="5788152" y="2240280"/>
            <a:ext cx="676656" cy="411480"/>
          </a:xfrm>
          <a:prstGeom prst="rect">
            <a:avLst/>
          </a:prstGeom>
          <a:solidFill>
            <a:srgbClr val="13315C"/>
          </a:solidFill>
          <a:ln w="6350">
            <a:solidFill>
              <a:srgbClr val="D7DEE5"/>
            </a:solidFill>
            <a:prstDash val="solid"/>
          </a:ln>
        </p:spPr>
      </p:sp>
      <p:sp>
        <p:nvSpPr>
          <p:cNvPr id="22" name="Shape 20"/>
          <p:cNvSpPr/>
          <p:nvPr/>
        </p:nvSpPr>
        <p:spPr>
          <a:xfrm>
            <a:off x="6519672" y="2240280"/>
            <a:ext cx="676656" cy="411480"/>
          </a:xfrm>
          <a:prstGeom prst="rect">
            <a:avLst/>
          </a:prstGeom>
          <a:solidFill>
            <a:srgbClr val="E07A5F"/>
          </a:solidFill>
          <a:ln w="6350">
            <a:solidFill>
              <a:srgbClr val="D7DEE5"/>
            </a:solidFill>
            <a:prstDash val="solid"/>
          </a:ln>
        </p:spPr>
      </p:sp>
      <p:sp>
        <p:nvSpPr>
          <p:cNvPr id="23" name="Shape 21"/>
          <p:cNvSpPr/>
          <p:nvPr/>
        </p:nvSpPr>
        <p:spPr>
          <a:xfrm>
            <a:off x="7251192" y="2240280"/>
            <a:ext cx="676656" cy="411480"/>
          </a:xfrm>
          <a:prstGeom prst="rect">
            <a:avLst/>
          </a:prstGeom>
          <a:solidFill>
            <a:srgbClr val="F5F7FA"/>
          </a:solidFill>
          <a:ln w="6350">
            <a:solidFill>
              <a:srgbClr val="D7DEE5"/>
            </a:solidFill>
            <a:prstDash val="solid"/>
          </a:ln>
        </p:spPr>
      </p:sp>
      <p:sp>
        <p:nvSpPr>
          <p:cNvPr id="24" name="Shape 22"/>
          <p:cNvSpPr/>
          <p:nvPr/>
        </p:nvSpPr>
        <p:spPr>
          <a:xfrm>
            <a:off x="7982712" y="2240280"/>
            <a:ext cx="676656" cy="411480"/>
          </a:xfrm>
          <a:prstGeom prst="rect">
            <a:avLst/>
          </a:prstGeom>
          <a:solidFill>
            <a:srgbClr val="F5F7FA"/>
          </a:solidFill>
          <a:ln w="6350">
            <a:solidFill>
              <a:srgbClr val="D7DEE5"/>
            </a:solidFill>
            <a:prstDash val="solid"/>
          </a:ln>
        </p:spPr>
      </p:sp>
      <p:sp>
        <p:nvSpPr>
          <p:cNvPr id="25" name="Text 23"/>
          <p:cNvSpPr/>
          <p:nvPr/>
        </p:nvSpPr>
        <p:spPr>
          <a:xfrm>
            <a:off x="4251960" y="2240280"/>
            <a:ext cx="731520" cy="411480"/>
          </a:xfrm>
          <a:prstGeom prst="rect">
            <a:avLst/>
          </a:prstGeom>
          <a:noFill/>
          <a:ln/>
        </p:spPr>
        <p:txBody>
          <a:bodyPr wrap="square" lIns="0" tIns="0" rIns="0" bIns="0" rtlCol="0" anchor="ctr"/>
          <a:lstStyle/>
          <a:p>
            <a:pPr algn="r" indent="0" marL="0">
              <a:buNone/>
            </a:pPr>
            <a:r>
              <a:rPr lang="en-US" sz="1000" b="1" dirty="0">
                <a:solidFill>
                  <a:srgbClr val="0B2545"/>
                </a:solidFill>
                <a:latin typeface="Calibri" pitchFamily="34" charset="0"/>
                <a:ea typeface="Calibri" pitchFamily="34" charset="-122"/>
                <a:cs typeface="Calibri" pitchFamily="34" charset="-120"/>
              </a:rPr>
              <a:t>Fold 2</a:t>
            </a:r>
            <a:endParaRPr lang="en-US" sz="1000" dirty="0"/>
          </a:p>
        </p:txBody>
      </p:sp>
      <p:sp>
        <p:nvSpPr>
          <p:cNvPr id="26" name="Shape 24"/>
          <p:cNvSpPr/>
          <p:nvPr/>
        </p:nvSpPr>
        <p:spPr>
          <a:xfrm>
            <a:off x="5056632" y="2743200"/>
            <a:ext cx="676656" cy="411480"/>
          </a:xfrm>
          <a:prstGeom prst="rect">
            <a:avLst/>
          </a:prstGeom>
          <a:solidFill>
            <a:srgbClr val="13315C"/>
          </a:solidFill>
          <a:ln w="6350">
            <a:solidFill>
              <a:srgbClr val="D7DEE5"/>
            </a:solidFill>
            <a:prstDash val="solid"/>
          </a:ln>
        </p:spPr>
      </p:sp>
      <p:sp>
        <p:nvSpPr>
          <p:cNvPr id="27" name="Shape 25"/>
          <p:cNvSpPr/>
          <p:nvPr/>
        </p:nvSpPr>
        <p:spPr>
          <a:xfrm>
            <a:off x="5788152" y="2743200"/>
            <a:ext cx="676656" cy="411480"/>
          </a:xfrm>
          <a:prstGeom prst="rect">
            <a:avLst/>
          </a:prstGeom>
          <a:solidFill>
            <a:srgbClr val="13315C"/>
          </a:solidFill>
          <a:ln w="6350">
            <a:solidFill>
              <a:srgbClr val="D7DEE5"/>
            </a:solidFill>
            <a:prstDash val="solid"/>
          </a:ln>
        </p:spPr>
      </p:sp>
      <p:sp>
        <p:nvSpPr>
          <p:cNvPr id="28" name="Shape 26"/>
          <p:cNvSpPr/>
          <p:nvPr/>
        </p:nvSpPr>
        <p:spPr>
          <a:xfrm>
            <a:off x="6519672" y="2743200"/>
            <a:ext cx="676656" cy="411480"/>
          </a:xfrm>
          <a:prstGeom prst="rect">
            <a:avLst/>
          </a:prstGeom>
          <a:solidFill>
            <a:srgbClr val="13315C"/>
          </a:solidFill>
          <a:ln w="6350">
            <a:solidFill>
              <a:srgbClr val="D7DEE5"/>
            </a:solidFill>
            <a:prstDash val="solid"/>
          </a:ln>
        </p:spPr>
      </p:sp>
      <p:sp>
        <p:nvSpPr>
          <p:cNvPr id="29" name="Shape 27"/>
          <p:cNvSpPr/>
          <p:nvPr/>
        </p:nvSpPr>
        <p:spPr>
          <a:xfrm>
            <a:off x="7251192" y="2743200"/>
            <a:ext cx="676656" cy="411480"/>
          </a:xfrm>
          <a:prstGeom prst="rect">
            <a:avLst/>
          </a:prstGeom>
          <a:solidFill>
            <a:srgbClr val="E07A5F"/>
          </a:solidFill>
          <a:ln w="6350">
            <a:solidFill>
              <a:srgbClr val="D7DEE5"/>
            </a:solidFill>
            <a:prstDash val="solid"/>
          </a:ln>
        </p:spPr>
      </p:sp>
      <p:sp>
        <p:nvSpPr>
          <p:cNvPr id="30" name="Shape 28"/>
          <p:cNvSpPr/>
          <p:nvPr/>
        </p:nvSpPr>
        <p:spPr>
          <a:xfrm>
            <a:off x="7982712" y="2743200"/>
            <a:ext cx="676656" cy="411480"/>
          </a:xfrm>
          <a:prstGeom prst="rect">
            <a:avLst/>
          </a:prstGeom>
          <a:solidFill>
            <a:srgbClr val="F5F7FA"/>
          </a:solidFill>
          <a:ln w="6350">
            <a:solidFill>
              <a:srgbClr val="D7DEE5"/>
            </a:solidFill>
            <a:prstDash val="solid"/>
          </a:ln>
        </p:spPr>
      </p:sp>
      <p:sp>
        <p:nvSpPr>
          <p:cNvPr id="31" name="Text 29"/>
          <p:cNvSpPr/>
          <p:nvPr/>
        </p:nvSpPr>
        <p:spPr>
          <a:xfrm>
            <a:off x="4251960" y="2743200"/>
            <a:ext cx="731520" cy="411480"/>
          </a:xfrm>
          <a:prstGeom prst="rect">
            <a:avLst/>
          </a:prstGeom>
          <a:noFill/>
          <a:ln/>
        </p:spPr>
        <p:txBody>
          <a:bodyPr wrap="square" lIns="0" tIns="0" rIns="0" bIns="0" rtlCol="0" anchor="ctr"/>
          <a:lstStyle/>
          <a:p>
            <a:pPr algn="r" indent="0" marL="0">
              <a:buNone/>
            </a:pPr>
            <a:r>
              <a:rPr lang="en-US" sz="1000" b="1" dirty="0">
                <a:solidFill>
                  <a:srgbClr val="0B2545"/>
                </a:solidFill>
                <a:latin typeface="Calibri" pitchFamily="34" charset="0"/>
                <a:ea typeface="Calibri" pitchFamily="34" charset="-122"/>
                <a:cs typeface="Calibri" pitchFamily="34" charset="-120"/>
              </a:rPr>
              <a:t>Fold 3</a:t>
            </a:r>
            <a:endParaRPr lang="en-US" sz="1000" dirty="0"/>
          </a:p>
        </p:txBody>
      </p:sp>
      <p:sp>
        <p:nvSpPr>
          <p:cNvPr id="32" name="Shape 30"/>
          <p:cNvSpPr/>
          <p:nvPr/>
        </p:nvSpPr>
        <p:spPr>
          <a:xfrm>
            <a:off x="5056632" y="3246120"/>
            <a:ext cx="676656" cy="411480"/>
          </a:xfrm>
          <a:prstGeom prst="rect">
            <a:avLst/>
          </a:prstGeom>
          <a:solidFill>
            <a:srgbClr val="13315C"/>
          </a:solidFill>
          <a:ln w="6350">
            <a:solidFill>
              <a:srgbClr val="D7DEE5"/>
            </a:solidFill>
            <a:prstDash val="solid"/>
          </a:ln>
        </p:spPr>
      </p:sp>
      <p:sp>
        <p:nvSpPr>
          <p:cNvPr id="33" name="Shape 31"/>
          <p:cNvSpPr/>
          <p:nvPr/>
        </p:nvSpPr>
        <p:spPr>
          <a:xfrm>
            <a:off x="5788152" y="3246120"/>
            <a:ext cx="676656" cy="411480"/>
          </a:xfrm>
          <a:prstGeom prst="rect">
            <a:avLst/>
          </a:prstGeom>
          <a:solidFill>
            <a:srgbClr val="13315C"/>
          </a:solidFill>
          <a:ln w="6350">
            <a:solidFill>
              <a:srgbClr val="D7DEE5"/>
            </a:solidFill>
            <a:prstDash val="solid"/>
          </a:ln>
        </p:spPr>
      </p:sp>
      <p:sp>
        <p:nvSpPr>
          <p:cNvPr id="34" name="Shape 32"/>
          <p:cNvSpPr/>
          <p:nvPr/>
        </p:nvSpPr>
        <p:spPr>
          <a:xfrm>
            <a:off x="6519672" y="3246120"/>
            <a:ext cx="676656" cy="411480"/>
          </a:xfrm>
          <a:prstGeom prst="rect">
            <a:avLst/>
          </a:prstGeom>
          <a:solidFill>
            <a:srgbClr val="13315C"/>
          </a:solidFill>
          <a:ln w="6350">
            <a:solidFill>
              <a:srgbClr val="D7DEE5"/>
            </a:solidFill>
            <a:prstDash val="solid"/>
          </a:ln>
        </p:spPr>
      </p:sp>
      <p:sp>
        <p:nvSpPr>
          <p:cNvPr id="35" name="Shape 33"/>
          <p:cNvSpPr/>
          <p:nvPr/>
        </p:nvSpPr>
        <p:spPr>
          <a:xfrm>
            <a:off x="7251192" y="3246120"/>
            <a:ext cx="676656" cy="411480"/>
          </a:xfrm>
          <a:prstGeom prst="rect">
            <a:avLst/>
          </a:prstGeom>
          <a:solidFill>
            <a:srgbClr val="13315C"/>
          </a:solidFill>
          <a:ln w="6350">
            <a:solidFill>
              <a:srgbClr val="D7DEE5"/>
            </a:solidFill>
            <a:prstDash val="solid"/>
          </a:ln>
        </p:spPr>
      </p:sp>
      <p:sp>
        <p:nvSpPr>
          <p:cNvPr id="36" name="Shape 34"/>
          <p:cNvSpPr/>
          <p:nvPr/>
        </p:nvSpPr>
        <p:spPr>
          <a:xfrm>
            <a:off x="7982712" y="3246120"/>
            <a:ext cx="676656" cy="411480"/>
          </a:xfrm>
          <a:prstGeom prst="rect">
            <a:avLst/>
          </a:prstGeom>
          <a:solidFill>
            <a:srgbClr val="E07A5F"/>
          </a:solidFill>
          <a:ln w="6350">
            <a:solidFill>
              <a:srgbClr val="D7DEE5"/>
            </a:solidFill>
            <a:prstDash val="solid"/>
          </a:ln>
        </p:spPr>
      </p:sp>
      <p:sp>
        <p:nvSpPr>
          <p:cNvPr id="37" name="Text 35"/>
          <p:cNvSpPr/>
          <p:nvPr/>
        </p:nvSpPr>
        <p:spPr>
          <a:xfrm>
            <a:off x="4251960" y="3246120"/>
            <a:ext cx="731520" cy="411480"/>
          </a:xfrm>
          <a:prstGeom prst="rect">
            <a:avLst/>
          </a:prstGeom>
          <a:noFill/>
          <a:ln/>
        </p:spPr>
        <p:txBody>
          <a:bodyPr wrap="square" lIns="0" tIns="0" rIns="0" bIns="0" rtlCol="0" anchor="ctr"/>
          <a:lstStyle/>
          <a:p>
            <a:pPr algn="r" indent="0" marL="0">
              <a:buNone/>
            </a:pPr>
            <a:r>
              <a:rPr lang="en-US" sz="1000" b="1" dirty="0">
                <a:solidFill>
                  <a:srgbClr val="0B2545"/>
                </a:solidFill>
                <a:latin typeface="Calibri" pitchFamily="34" charset="0"/>
                <a:ea typeface="Calibri" pitchFamily="34" charset="-122"/>
                <a:cs typeface="Calibri" pitchFamily="34" charset="-120"/>
              </a:rPr>
              <a:t>Fold 4</a:t>
            </a:r>
            <a:endParaRPr lang="en-US" sz="1000" dirty="0"/>
          </a:p>
        </p:txBody>
      </p:sp>
      <p:sp>
        <p:nvSpPr>
          <p:cNvPr id="38" name="Shape 36"/>
          <p:cNvSpPr/>
          <p:nvPr/>
        </p:nvSpPr>
        <p:spPr>
          <a:xfrm>
            <a:off x="5029200" y="3977640"/>
            <a:ext cx="182880" cy="137160"/>
          </a:xfrm>
          <a:prstGeom prst="rect">
            <a:avLst/>
          </a:prstGeom>
          <a:solidFill>
            <a:srgbClr val="13315C"/>
          </a:solidFill>
          <a:ln/>
        </p:spPr>
      </p:sp>
      <p:sp>
        <p:nvSpPr>
          <p:cNvPr id="39" name="Text 37"/>
          <p:cNvSpPr/>
          <p:nvPr/>
        </p:nvSpPr>
        <p:spPr>
          <a:xfrm>
            <a:off x="5257800" y="3941064"/>
            <a:ext cx="548640" cy="201168"/>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train</a:t>
            </a:r>
            <a:endParaRPr lang="en-US" sz="1000" dirty="0"/>
          </a:p>
        </p:txBody>
      </p:sp>
      <p:sp>
        <p:nvSpPr>
          <p:cNvPr id="40" name="Shape 38"/>
          <p:cNvSpPr/>
          <p:nvPr/>
        </p:nvSpPr>
        <p:spPr>
          <a:xfrm>
            <a:off x="5897880" y="3977640"/>
            <a:ext cx="182880" cy="137160"/>
          </a:xfrm>
          <a:prstGeom prst="rect">
            <a:avLst/>
          </a:prstGeom>
          <a:solidFill>
            <a:srgbClr val="E07A5F"/>
          </a:solidFill>
          <a:ln/>
        </p:spPr>
      </p:sp>
      <p:sp>
        <p:nvSpPr>
          <p:cNvPr id="41" name="Text 39"/>
          <p:cNvSpPr/>
          <p:nvPr/>
        </p:nvSpPr>
        <p:spPr>
          <a:xfrm>
            <a:off x="6126480" y="3941064"/>
            <a:ext cx="731520" cy="201168"/>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validate</a:t>
            </a:r>
            <a:endParaRPr lang="en-US" sz="1000" dirty="0"/>
          </a:p>
        </p:txBody>
      </p:sp>
      <p:sp>
        <p:nvSpPr>
          <p:cNvPr id="42" name="Shape 40"/>
          <p:cNvSpPr/>
          <p:nvPr/>
        </p:nvSpPr>
        <p:spPr>
          <a:xfrm>
            <a:off x="6949440" y="3977640"/>
            <a:ext cx="182880" cy="137160"/>
          </a:xfrm>
          <a:prstGeom prst="rect">
            <a:avLst/>
          </a:prstGeom>
          <a:solidFill>
            <a:srgbClr val="F5F7FA"/>
          </a:solidFill>
          <a:ln w="6350">
            <a:solidFill>
              <a:srgbClr val="D7DEE5"/>
            </a:solidFill>
            <a:prstDash val="solid"/>
          </a:ln>
        </p:spPr>
      </p:sp>
      <p:sp>
        <p:nvSpPr>
          <p:cNvPr id="43" name="Text 41"/>
          <p:cNvSpPr/>
          <p:nvPr/>
        </p:nvSpPr>
        <p:spPr>
          <a:xfrm>
            <a:off x="7178040" y="3941064"/>
            <a:ext cx="1463040" cy="201168"/>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unseen (future)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Knowhow Appendix   ·   Liang · Chen · Collaborator</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A2 / A12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A2  ·  SCORING RULES</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0B2545"/>
                </a:solidFill>
                <a:latin typeface="Georgia" pitchFamily="34" charset="0"/>
                <a:ea typeface="Georgia" pitchFamily="34" charset="-122"/>
                <a:cs typeface="Georgia" pitchFamily="34" charset="-120"/>
              </a:rPr>
              <a:t>Why log-loss is the headline metric</a:t>
            </a:r>
            <a:endParaRPr lang="en-US" sz="2600" dirty="0"/>
          </a:p>
        </p:txBody>
      </p:sp>
      <p:sp>
        <p:nvSpPr>
          <p:cNvPr id="8" name="Text 6"/>
          <p:cNvSpPr/>
          <p:nvPr/>
        </p:nvSpPr>
        <p:spPr>
          <a:xfrm>
            <a:off x="457200" y="1325880"/>
            <a:ext cx="4297680" cy="3200400"/>
          </a:xfrm>
          <a:prstGeom prst="rect">
            <a:avLst/>
          </a:prstGeom>
          <a:noFill/>
          <a:ln/>
        </p:spPr>
        <p:txBody>
          <a:bodyPr wrap="square" lIns="0" tIns="0" rIns="0" bIns="0" rtlCol="0" anchor="ctr"/>
          <a:lstStyle/>
          <a:p>
            <a:pPr indent="0" marL="0">
              <a:lnSpc>
                <a:spcPct val="130000"/>
              </a:lnSpc>
              <a:buNone/>
            </a:pPr>
            <a:r>
              <a:rPr lang="en-US" sz="1200" b="1" dirty="0">
                <a:solidFill>
                  <a:srgbClr val="0B2545"/>
                </a:solidFill>
                <a:latin typeface="Calibri" pitchFamily="34" charset="0"/>
                <a:ea typeface="Calibri" pitchFamily="34" charset="-122"/>
                <a:cs typeface="Calibri" pitchFamily="34" charset="-120"/>
              </a:rPr>
              <a:t>Accuracy is too coarse for 3-class probabilistic forecasting.
</a:t>
            </a:r>
            <a:pPr indent="0" marL="0">
              <a:lnSpc>
                <a:spcPct val="130000"/>
              </a:lnSpc>
              <a:buNone/>
            </a:pPr>
            <a:r>
              <a:rPr lang="en-US" sz="1200" dirty="0">
                <a:solidFill>
                  <a:srgbClr val="1F2933"/>
                </a:solidFill>
                <a:latin typeface="Calibri" pitchFamily="34" charset="0"/>
                <a:ea typeface="Calibri" pitchFamily="34" charset="-122"/>
                <a:cs typeface="Calibri" pitchFamily="34" charset="-120"/>
              </a:rPr>
              <a:t>It throws away the model's confidence. A model that says (0.50, 0.20, 0.30) and one that says (0.95, 0.02, 0.03) are scored identically when the home team wins.
</a:t>
            </a:r>
            <a:pPr indent="0" marL="0">
              <a:lnSpc>
                <a:spcPct val="130000"/>
              </a:lnSpc>
              <a:buNone/>
            </a:pPr>
            <a:r>
              <a:rPr lang="en-US" sz="1200" b="1" dirty="0">
                <a:solidFill>
                  <a:srgbClr val="0B2545"/>
                </a:solidFill>
                <a:latin typeface="Calibri" pitchFamily="34" charset="0"/>
                <a:ea typeface="Calibri" pitchFamily="34" charset="-122"/>
                <a:cs typeface="Calibri" pitchFamily="34" charset="-120"/>
              </a:rPr>
              <a:t>
Log-loss is a proper scoring rule.
</a:t>
            </a:r>
            <a:pPr indent="0" marL="0">
              <a:lnSpc>
                <a:spcPct val="130000"/>
              </a:lnSpc>
              <a:buNone/>
            </a:pPr>
            <a:r>
              <a:rPr lang="en-US" sz="1200" dirty="0">
                <a:solidFill>
                  <a:srgbClr val="1F2933"/>
                </a:solidFill>
                <a:latin typeface="Calibri" pitchFamily="34" charset="0"/>
                <a:ea typeface="Calibri" pitchFamily="34" charset="-122"/>
                <a:cs typeface="Calibri" pitchFamily="34" charset="-120"/>
              </a:rPr>
              <a:t>It is uniquely minimised when the predicted distribution equals the true distribution. Confidently wrong predictions are penalised asymptotically — that's why Always-Home gets log-loss 22.4.
</a:t>
            </a:r>
            <a:pPr indent="0" marL="0">
              <a:lnSpc>
                <a:spcPct val="130000"/>
              </a:lnSpc>
              <a:buNone/>
            </a:pPr>
            <a:endParaRPr lang="en-US" sz="1200" dirty="0"/>
          </a:p>
          <a:p>
            <a:pPr indent="0" marL="0">
              <a:lnSpc>
                <a:spcPct val="130000"/>
              </a:lnSpc>
              <a:buNone/>
            </a:pPr>
            <a:r>
              <a:rPr lang="en-US" sz="1200" i="1" dirty="0">
                <a:solidFill>
                  <a:srgbClr val="5A6573"/>
                </a:solidFill>
                <a:latin typeface="Calibri" pitchFamily="34" charset="0"/>
                <a:ea typeface="Calibri" pitchFamily="34" charset="-122"/>
                <a:cs typeface="Calibri" pitchFamily="34" charset="-120"/>
              </a:rPr>
              <a:t>We also report Brier (alternative proper rule) and AUC OvR (rank-based).</a:t>
            </a:r>
            <a:endParaRPr lang="en-US" sz="1200" dirty="0"/>
          </a:p>
        </p:txBody>
      </p:sp>
      <p:sp>
        <p:nvSpPr>
          <p:cNvPr id="9" name="Shape 7"/>
          <p:cNvSpPr/>
          <p:nvPr/>
        </p:nvSpPr>
        <p:spPr>
          <a:xfrm>
            <a:off x="4937760" y="1325880"/>
            <a:ext cx="3749040" cy="141732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10" name="Shape 8"/>
          <p:cNvSpPr/>
          <p:nvPr/>
        </p:nvSpPr>
        <p:spPr>
          <a:xfrm>
            <a:off x="4937760" y="1325880"/>
            <a:ext cx="54864" cy="1417320"/>
          </a:xfrm>
          <a:prstGeom prst="rect">
            <a:avLst/>
          </a:prstGeom>
          <a:solidFill>
            <a:srgbClr val="E07A5F"/>
          </a:solidFill>
          <a:ln/>
        </p:spPr>
      </p:sp>
      <p:sp>
        <p:nvSpPr>
          <p:cNvPr id="11" name="Text 9"/>
          <p:cNvSpPr/>
          <p:nvPr/>
        </p:nvSpPr>
        <p:spPr>
          <a:xfrm>
            <a:off x="5102352" y="1417320"/>
            <a:ext cx="3520440" cy="274320"/>
          </a:xfrm>
          <a:prstGeom prst="rect">
            <a:avLst/>
          </a:prstGeom>
          <a:noFill/>
          <a:ln/>
        </p:spPr>
        <p:txBody>
          <a:bodyPr wrap="square" lIns="0" tIns="0" rIns="0" bIns="0" rtlCol="0" anchor="ctr"/>
          <a:lstStyle/>
          <a:p>
            <a:pPr indent="0" marL="0">
              <a:buNone/>
            </a:pPr>
            <a:r>
              <a:rPr lang="en-US" sz="1000" b="1" spc="300" kern="0" dirty="0">
                <a:solidFill>
                  <a:srgbClr val="13315C"/>
                </a:solidFill>
                <a:latin typeface="Calibri" pitchFamily="34" charset="0"/>
                <a:ea typeface="Calibri" pitchFamily="34" charset="-122"/>
                <a:cs typeface="Calibri" pitchFamily="34" charset="-120"/>
              </a:rPr>
              <a:t>Multiclass log-loss</a:t>
            </a:r>
            <a:endParaRPr lang="en-US" sz="1000" dirty="0"/>
          </a:p>
        </p:txBody>
      </p:sp>
      <p:sp>
        <p:nvSpPr>
          <p:cNvPr id="12" name="Text 10"/>
          <p:cNvSpPr/>
          <p:nvPr/>
        </p:nvSpPr>
        <p:spPr>
          <a:xfrm>
            <a:off x="5102352" y="1737360"/>
            <a:ext cx="3520440" cy="914400"/>
          </a:xfrm>
          <a:prstGeom prst="rect">
            <a:avLst/>
          </a:prstGeom>
          <a:noFill/>
          <a:ln/>
        </p:spPr>
        <p:txBody>
          <a:bodyPr wrap="square" lIns="0" tIns="0" rIns="0" bIns="0" rtlCol="0" anchor="ctr"/>
          <a:lstStyle/>
          <a:p>
            <a:pPr algn="ctr" indent="0" marL="0">
              <a:lnSpc>
                <a:spcPct val="130000"/>
              </a:lnSpc>
              <a:buNone/>
            </a:pPr>
            <a:r>
              <a:rPr lang="en-US" sz="1400" i="1" dirty="0">
                <a:solidFill>
                  <a:srgbClr val="1F2933"/>
                </a:solidFill>
                <a:latin typeface="Georgia" pitchFamily="34" charset="0"/>
                <a:ea typeface="Georgia" pitchFamily="34" charset="-122"/>
                <a:cs typeface="Georgia" pitchFamily="34" charset="-120"/>
              </a:rPr>
              <a:t>L(y, p̂) = − (1/N) Σᵢ Σ_c   1{yᵢ = c}  ·  log p̂ᵢ,c</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937760" y="2926080"/>
          <a:ext cx="3749040" cy="1691640"/>
        </p:xfrm>
        <a:graphic>
          <a:graphicData uri="http://schemas.openxmlformats.org/drawingml/2006/table">
            <a:tbl>
              <a:tblPr/>
              <a:tblGrid>
                <a:gridCol w="2194560"/>
                <a:gridCol w="1554480"/>
              </a:tblGrid>
              <a:tr h="274320">
                <a:tc>
                  <a:txBody>
                    <a:bodyPr/>
                    <a:lstStyle/>
                    <a:p>
                      <a:pPr indent="0" marL="0">
                        <a:buNone/>
                      </a:pPr>
                      <a:r>
                        <a:rPr lang="en-US" sz="1000" b="1" dirty="0">
                          <a:solidFill>
                            <a:srgbClr val="FFFFFF"/>
                          </a:solidFill>
                          <a:latin typeface="Consolas" pitchFamily="34" charset="0"/>
                          <a:ea typeface="Consolas" pitchFamily="34" charset="-122"/>
                          <a:cs typeface="Consolas" pitchFamily="34" charset="-120"/>
                        </a:rPr>
                        <a:t>Predicted  p̂(true class)</a:t>
                      </a:r>
                      <a:endParaRPr lang="en-US" sz="1000" dirty="0">
                        <a:latin typeface="Consolas" charset="0"/>
                        <a:ea typeface="Consolas" charset="0"/>
                        <a:cs typeface="Consolas"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algn="r" indent="0" marL="0">
                        <a:buNone/>
                      </a:pPr>
                      <a:r>
                        <a:rPr lang="en-US" sz="1000" b="1" dirty="0">
                          <a:solidFill>
                            <a:srgbClr val="FFFFFF"/>
                          </a:solidFill>
                          <a:latin typeface="Consolas" pitchFamily="34" charset="0"/>
                          <a:ea typeface="Consolas" pitchFamily="34" charset="-122"/>
                          <a:cs typeface="Consolas" pitchFamily="34" charset="-120"/>
                        </a:rPr>
                        <a:t>Per-row log-loss</a:t>
                      </a:r>
                      <a:endParaRPr lang="en-US" sz="1000" dirty="0">
                        <a:latin typeface="Consolas" charset="0"/>
                        <a:ea typeface="Consolas" charset="0"/>
                        <a:cs typeface="Consolas"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r>
              <a:tr h="274320">
                <a:tc>
                  <a:txBody>
                    <a:bodyPr/>
                    <a:lstStyle/>
                    <a:p>
                      <a:pPr indent="0" marL="0">
                        <a:buNone/>
                      </a:pPr>
                      <a:r>
                        <a:rPr lang="en-US" sz="1100" dirty="0">
                          <a:solidFill>
                            <a:srgbClr val="1F2933"/>
                          </a:solidFill>
                          <a:latin typeface="Consolas" pitchFamily="34" charset="0"/>
                          <a:ea typeface="Consolas" pitchFamily="34" charset="-122"/>
                          <a:cs typeface="Consolas" pitchFamily="34" charset="-120"/>
                        </a:rPr>
                        <a:t>0.95</a:t>
                      </a:r>
                      <a:endParaRPr lang="en-US" sz="1100" dirty="0">
                        <a:latin typeface="Consolas" charset="0"/>
                        <a:ea typeface="Consolas" charset="0"/>
                        <a:cs typeface="Consolas"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100" dirty="0">
                          <a:solidFill>
                            <a:srgbClr val="1F2933"/>
                          </a:solidFill>
                          <a:latin typeface="Consolas" pitchFamily="34" charset="0"/>
                          <a:ea typeface="Consolas" pitchFamily="34" charset="-122"/>
                          <a:cs typeface="Consolas" pitchFamily="34" charset="-120"/>
                        </a:rPr>
                        <a:t>0.05</a:t>
                      </a:r>
                      <a:endParaRPr lang="en-US" sz="1100" dirty="0">
                        <a:latin typeface="Consolas" charset="0"/>
                        <a:ea typeface="Consolas" charset="0"/>
                        <a:cs typeface="Consolas"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274320">
                <a:tc>
                  <a:txBody>
                    <a:bodyPr/>
                    <a:lstStyle/>
                    <a:p>
                      <a:pPr indent="0" marL="0">
                        <a:buNone/>
                      </a:pPr>
                      <a:r>
                        <a:rPr lang="en-US" sz="1100" dirty="0">
                          <a:solidFill>
                            <a:srgbClr val="1F2933"/>
                          </a:solidFill>
                          <a:latin typeface="Consolas" pitchFamily="34" charset="0"/>
                          <a:ea typeface="Consolas" pitchFamily="34" charset="-122"/>
                          <a:cs typeface="Consolas" pitchFamily="34" charset="-120"/>
                        </a:rPr>
                        <a:t>0.50</a:t>
                      </a:r>
                      <a:endParaRPr lang="en-US" sz="1100" dirty="0">
                        <a:latin typeface="Consolas" charset="0"/>
                        <a:ea typeface="Consolas" charset="0"/>
                        <a:cs typeface="Consolas"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100" dirty="0">
                          <a:solidFill>
                            <a:srgbClr val="1F2933"/>
                          </a:solidFill>
                          <a:latin typeface="Consolas" pitchFamily="34" charset="0"/>
                          <a:ea typeface="Consolas" pitchFamily="34" charset="-122"/>
                          <a:cs typeface="Consolas" pitchFamily="34" charset="-120"/>
                        </a:rPr>
                        <a:t>0.69</a:t>
                      </a:r>
                      <a:endParaRPr lang="en-US" sz="1100" dirty="0">
                        <a:latin typeface="Consolas" charset="0"/>
                        <a:ea typeface="Consolas" charset="0"/>
                        <a:cs typeface="Consolas"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274320">
                <a:tc>
                  <a:txBody>
                    <a:bodyPr/>
                    <a:lstStyle/>
                    <a:p>
                      <a:pPr indent="0" marL="0">
                        <a:buNone/>
                      </a:pPr>
                      <a:r>
                        <a:rPr lang="en-US" sz="1100" dirty="0">
                          <a:solidFill>
                            <a:srgbClr val="1F2933"/>
                          </a:solidFill>
                          <a:latin typeface="Consolas" pitchFamily="34" charset="0"/>
                          <a:ea typeface="Consolas" pitchFamily="34" charset="-122"/>
                          <a:cs typeface="Consolas" pitchFamily="34" charset="-120"/>
                        </a:rPr>
                        <a:t>0.20</a:t>
                      </a:r>
                      <a:endParaRPr lang="en-US" sz="1100" dirty="0">
                        <a:latin typeface="Consolas" charset="0"/>
                        <a:ea typeface="Consolas" charset="0"/>
                        <a:cs typeface="Consolas"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100" dirty="0">
                          <a:solidFill>
                            <a:srgbClr val="1F2933"/>
                          </a:solidFill>
                          <a:latin typeface="Consolas" pitchFamily="34" charset="0"/>
                          <a:ea typeface="Consolas" pitchFamily="34" charset="-122"/>
                          <a:cs typeface="Consolas" pitchFamily="34" charset="-120"/>
                        </a:rPr>
                        <a:t>1.61</a:t>
                      </a:r>
                      <a:endParaRPr lang="en-US" sz="1100" dirty="0">
                        <a:latin typeface="Consolas" charset="0"/>
                        <a:ea typeface="Consolas" charset="0"/>
                        <a:cs typeface="Consolas"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274320">
                <a:tc>
                  <a:txBody>
                    <a:bodyPr/>
                    <a:lstStyle/>
                    <a:p>
                      <a:pPr indent="0" marL="0">
                        <a:buNone/>
                      </a:pPr>
                      <a:r>
                        <a:rPr lang="en-US" sz="1100" dirty="0">
                          <a:solidFill>
                            <a:srgbClr val="1F2933"/>
                          </a:solidFill>
                          <a:latin typeface="Consolas" pitchFamily="34" charset="0"/>
                          <a:ea typeface="Consolas" pitchFamily="34" charset="-122"/>
                          <a:cs typeface="Consolas" pitchFamily="34" charset="-120"/>
                        </a:rPr>
                        <a:t>0.05</a:t>
                      </a:r>
                      <a:endParaRPr lang="en-US" sz="1100" dirty="0">
                        <a:latin typeface="Consolas" charset="0"/>
                        <a:ea typeface="Consolas" charset="0"/>
                        <a:cs typeface="Consolas"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100" dirty="0">
                          <a:solidFill>
                            <a:srgbClr val="1F2933"/>
                          </a:solidFill>
                          <a:latin typeface="Consolas" pitchFamily="34" charset="0"/>
                          <a:ea typeface="Consolas" pitchFamily="34" charset="-122"/>
                          <a:cs typeface="Consolas" pitchFamily="34" charset="-120"/>
                        </a:rPr>
                        <a:t>3.00</a:t>
                      </a:r>
                      <a:endParaRPr lang="en-US" sz="1100" dirty="0">
                        <a:latin typeface="Consolas" charset="0"/>
                        <a:ea typeface="Consolas" charset="0"/>
                        <a:cs typeface="Consolas"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274320">
                <a:tc>
                  <a:txBody>
                    <a:bodyPr/>
                    <a:lstStyle/>
                    <a:p>
                      <a:pPr indent="0" marL="0">
                        <a:buNone/>
                      </a:pPr>
                      <a:r>
                        <a:rPr lang="en-US" sz="1100" b="1" dirty="0">
                          <a:solidFill>
                            <a:srgbClr val="E07A5F"/>
                          </a:solidFill>
                          <a:latin typeface="Consolas" pitchFamily="34" charset="0"/>
                          <a:ea typeface="Consolas" pitchFamily="34" charset="-122"/>
                          <a:cs typeface="Consolas" pitchFamily="34" charset="-120"/>
                        </a:rPr>
                        <a:t>0.001</a:t>
                      </a:r>
                      <a:endParaRPr lang="en-US" sz="1100" dirty="0">
                        <a:latin typeface="Consolas" charset="0"/>
                        <a:ea typeface="Consolas" charset="0"/>
                        <a:cs typeface="Consolas"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100" b="1" dirty="0">
                          <a:solidFill>
                            <a:srgbClr val="E07A5F"/>
                          </a:solidFill>
                          <a:latin typeface="Consolas" pitchFamily="34" charset="0"/>
                          <a:ea typeface="Consolas" pitchFamily="34" charset="-122"/>
                          <a:cs typeface="Consolas" pitchFamily="34" charset="-120"/>
                        </a:rPr>
                        <a:t>6.91</a:t>
                      </a:r>
                      <a:endParaRPr lang="en-US" sz="1100" dirty="0">
                        <a:latin typeface="Consolas" charset="0"/>
                        <a:ea typeface="Consolas" charset="0"/>
                        <a:cs typeface="Consolas"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Knowhow Appendix   ·   Liang · Chen · Collaborator</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A3 / A12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A3  ·  CALIBRATION</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0B2545"/>
                </a:solidFill>
                <a:latin typeface="Georgia" pitchFamily="34" charset="0"/>
                <a:ea typeface="Georgia" pitchFamily="34" charset="-122"/>
                <a:cs typeface="Georgia" pitchFamily="34" charset="-120"/>
              </a:rPr>
              <a:t>Brier-score decomposition</a:t>
            </a:r>
            <a:endParaRPr lang="en-US" sz="2600" dirty="0"/>
          </a:p>
        </p:txBody>
      </p:sp>
      <p:sp>
        <p:nvSpPr>
          <p:cNvPr id="8" name="Text 6"/>
          <p:cNvSpPr/>
          <p:nvPr/>
        </p:nvSpPr>
        <p:spPr>
          <a:xfrm>
            <a:off x="457200" y="1325880"/>
            <a:ext cx="4297680" cy="777240"/>
          </a:xfrm>
          <a:prstGeom prst="rect">
            <a:avLst/>
          </a:prstGeom>
          <a:noFill/>
          <a:ln/>
        </p:spPr>
        <p:txBody>
          <a:bodyPr wrap="square" lIns="0" tIns="0" rIns="0" bIns="0" rtlCol="0" anchor="ctr"/>
          <a:lstStyle/>
          <a:p>
            <a:pPr indent="0" marL="0">
              <a:lnSpc>
                <a:spcPct val="130000"/>
              </a:lnSpc>
              <a:buNone/>
            </a:pPr>
            <a:r>
              <a:rPr lang="en-US" sz="1200" b="1" dirty="0">
                <a:solidFill>
                  <a:srgbClr val="0B2545"/>
                </a:solidFill>
                <a:latin typeface="Calibri" pitchFamily="34" charset="0"/>
                <a:ea typeface="Calibri" pitchFamily="34" charset="-122"/>
                <a:cs typeface="Calibri" pitchFamily="34" charset="-120"/>
              </a:rPr>
              <a:t>Brier complements log-loss with a finite penalty for any error.
</a:t>
            </a:r>
            <a:pPr indent="0" marL="0">
              <a:lnSpc>
                <a:spcPct val="130000"/>
              </a:lnSpc>
              <a:buNone/>
            </a:pPr>
            <a:r>
              <a:rPr lang="en-US" sz="1200" dirty="0">
                <a:solidFill>
                  <a:srgbClr val="1F2933"/>
                </a:solidFill>
                <a:latin typeface="Calibri" pitchFamily="34" charset="0"/>
                <a:ea typeface="Calibri" pitchFamily="34" charset="-122"/>
                <a:cs typeface="Calibri" pitchFamily="34" charset="-120"/>
              </a:rPr>
              <a:t>Murphy (1973) decomposes a Brier score into three interpretable parts:</a:t>
            </a:r>
            <a:endParaRPr lang="en-US" sz="1200" dirty="0"/>
          </a:p>
        </p:txBody>
      </p:sp>
      <p:sp>
        <p:nvSpPr>
          <p:cNvPr id="9" name="Shape 7"/>
          <p:cNvSpPr/>
          <p:nvPr/>
        </p:nvSpPr>
        <p:spPr>
          <a:xfrm>
            <a:off x="457200" y="2148840"/>
            <a:ext cx="4297680" cy="758952"/>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10" name="Shape 8"/>
          <p:cNvSpPr/>
          <p:nvPr/>
        </p:nvSpPr>
        <p:spPr>
          <a:xfrm>
            <a:off x="457200" y="2148840"/>
            <a:ext cx="54864" cy="758952"/>
          </a:xfrm>
          <a:prstGeom prst="rect">
            <a:avLst/>
          </a:prstGeom>
          <a:solidFill>
            <a:srgbClr val="E07A5F"/>
          </a:solidFill>
          <a:ln/>
        </p:spPr>
      </p:sp>
      <p:sp>
        <p:nvSpPr>
          <p:cNvPr id="11" name="Text 9"/>
          <p:cNvSpPr/>
          <p:nvPr/>
        </p:nvSpPr>
        <p:spPr>
          <a:xfrm>
            <a:off x="594360" y="2221992"/>
            <a:ext cx="1463040" cy="274320"/>
          </a:xfrm>
          <a:prstGeom prst="rect">
            <a:avLst/>
          </a:prstGeom>
          <a:noFill/>
          <a:ln/>
        </p:spPr>
        <p:txBody>
          <a:bodyPr wrap="square" lIns="0" tIns="0" rIns="0" bIns="0" rtlCol="0" anchor="ctr"/>
          <a:lstStyle/>
          <a:p>
            <a:pPr indent="0" marL="0">
              <a:buNone/>
            </a:pPr>
            <a:r>
              <a:rPr lang="en-US" sz="1400" b="1" dirty="0">
                <a:solidFill>
                  <a:srgbClr val="0B2545"/>
                </a:solidFill>
                <a:latin typeface="Georgia" pitchFamily="34" charset="0"/>
                <a:ea typeface="Georgia" pitchFamily="34" charset="-122"/>
                <a:cs typeface="Georgia" pitchFamily="34" charset="-120"/>
              </a:rPr>
              <a:t>Reliability</a:t>
            </a:r>
            <a:endParaRPr lang="en-US" sz="1400" dirty="0"/>
          </a:p>
        </p:txBody>
      </p:sp>
      <p:sp>
        <p:nvSpPr>
          <p:cNvPr id="12" name="Text 10"/>
          <p:cNvSpPr/>
          <p:nvPr/>
        </p:nvSpPr>
        <p:spPr>
          <a:xfrm>
            <a:off x="2103120" y="2221992"/>
            <a:ext cx="2606040" cy="594360"/>
          </a:xfrm>
          <a:prstGeom prst="rect">
            <a:avLst/>
          </a:prstGeom>
          <a:noFill/>
          <a:ln/>
        </p:spPr>
        <p:txBody>
          <a:bodyPr wrap="square" lIns="0" tIns="0" rIns="0" bIns="0" rtlCol="0" anchor="ctr"/>
          <a:lstStyle/>
          <a:p>
            <a:pPr indent="0" marL="0">
              <a:lnSpc>
                <a:spcPct val="120000"/>
              </a:lnSpc>
              <a:buNone/>
            </a:pPr>
            <a:r>
              <a:rPr lang="en-US" sz="1050" dirty="0">
                <a:solidFill>
                  <a:srgbClr val="1F2933"/>
                </a:solidFill>
                <a:latin typeface="Calibri" pitchFamily="34" charset="0"/>
                <a:ea typeface="Calibri" pitchFamily="34" charset="-122"/>
                <a:cs typeface="Calibri" pitchFamily="34" charset="-120"/>
              </a:rPr>
              <a:t>Lower is better. Distance between predicted probability bins and observed frequencies. Calibration error in disguise.</a:t>
            </a:r>
            <a:endParaRPr lang="en-US" sz="1050" dirty="0"/>
          </a:p>
        </p:txBody>
      </p:sp>
      <p:sp>
        <p:nvSpPr>
          <p:cNvPr id="13" name="Shape 11"/>
          <p:cNvSpPr/>
          <p:nvPr/>
        </p:nvSpPr>
        <p:spPr>
          <a:xfrm>
            <a:off x="457200" y="2999232"/>
            <a:ext cx="4297680" cy="758952"/>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457200" y="2999232"/>
            <a:ext cx="54864" cy="758952"/>
          </a:xfrm>
          <a:prstGeom prst="rect">
            <a:avLst/>
          </a:prstGeom>
          <a:solidFill>
            <a:srgbClr val="E07A5F"/>
          </a:solidFill>
          <a:ln/>
        </p:spPr>
      </p:sp>
      <p:sp>
        <p:nvSpPr>
          <p:cNvPr id="15" name="Text 13"/>
          <p:cNvSpPr/>
          <p:nvPr/>
        </p:nvSpPr>
        <p:spPr>
          <a:xfrm>
            <a:off x="594360" y="3072384"/>
            <a:ext cx="1463040" cy="274320"/>
          </a:xfrm>
          <a:prstGeom prst="rect">
            <a:avLst/>
          </a:prstGeom>
          <a:noFill/>
          <a:ln/>
        </p:spPr>
        <p:txBody>
          <a:bodyPr wrap="square" lIns="0" tIns="0" rIns="0" bIns="0" rtlCol="0" anchor="ctr"/>
          <a:lstStyle/>
          <a:p>
            <a:pPr indent="0" marL="0">
              <a:buNone/>
            </a:pPr>
            <a:r>
              <a:rPr lang="en-US" sz="1400" b="1" dirty="0">
                <a:solidFill>
                  <a:srgbClr val="0B2545"/>
                </a:solidFill>
                <a:latin typeface="Georgia" pitchFamily="34" charset="0"/>
                <a:ea typeface="Georgia" pitchFamily="34" charset="-122"/>
                <a:cs typeface="Georgia" pitchFamily="34" charset="-120"/>
              </a:rPr>
              <a:t>Resolution</a:t>
            </a:r>
            <a:endParaRPr lang="en-US" sz="1400" dirty="0"/>
          </a:p>
        </p:txBody>
      </p:sp>
      <p:sp>
        <p:nvSpPr>
          <p:cNvPr id="16" name="Text 14"/>
          <p:cNvSpPr/>
          <p:nvPr/>
        </p:nvSpPr>
        <p:spPr>
          <a:xfrm>
            <a:off x="2103120" y="3072384"/>
            <a:ext cx="2606040" cy="594360"/>
          </a:xfrm>
          <a:prstGeom prst="rect">
            <a:avLst/>
          </a:prstGeom>
          <a:noFill/>
          <a:ln/>
        </p:spPr>
        <p:txBody>
          <a:bodyPr wrap="square" lIns="0" tIns="0" rIns="0" bIns="0" rtlCol="0" anchor="ctr"/>
          <a:lstStyle/>
          <a:p>
            <a:pPr indent="0" marL="0">
              <a:lnSpc>
                <a:spcPct val="120000"/>
              </a:lnSpc>
              <a:buNone/>
            </a:pPr>
            <a:r>
              <a:rPr lang="en-US" sz="1050" dirty="0">
                <a:solidFill>
                  <a:srgbClr val="1F2933"/>
                </a:solidFill>
                <a:latin typeface="Calibri" pitchFamily="34" charset="0"/>
                <a:ea typeface="Calibri" pitchFamily="34" charset="-122"/>
                <a:cs typeface="Calibri" pitchFamily="34" charset="-120"/>
              </a:rPr>
              <a:t>Higher is better. How much sharper the conditional distributions are than the marginal — i.e. is the model differentiating?</a:t>
            </a:r>
            <a:endParaRPr lang="en-US" sz="1050" dirty="0"/>
          </a:p>
        </p:txBody>
      </p:sp>
      <p:sp>
        <p:nvSpPr>
          <p:cNvPr id="17" name="Shape 15"/>
          <p:cNvSpPr/>
          <p:nvPr/>
        </p:nvSpPr>
        <p:spPr>
          <a:xfrm>
            <a:off x="457200" y="3849624"/>
            <a:ext cx="4297680" cy="758952"/>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18" name="Shape 16"/>
          <p:cNvSpPr/>
          <p:nvPr/>
        </p:nvSpPr>
        <p:spPr>
          <a:xfrm>
            <a:off x="457200" y="3849624"/>
            <a:ext cx="54864" cy="758952"/>
          </a:xfrm>
          <a:prstGeom prst="rect">
            <a:avLst/>
          </a:prstGeom>
          <a:solidFill>
            <a:srgbClr val="E07A5F"/>
          </a:solidFill>
          <a:ln/>
        </p:spPr>
      </p:sp>
      <p:sp>
        <p:nvSpPr>
          <p:cNvPr id="19" name="Text 17"/>
          <p:cNvSpPr/>
          <p:nvPr/>
        </p:nvSpPr>
        <p:spPr>
          <a:xfrm>
            <a:off x="594360" y="3922776"/>
            <a:ext cx="1463040" cy="274320"/>
          </a:xfrm>
          <a:prstGeom prst="rect">
            <a:avLst/>
          </a:prstGeom>
          <a:noFill/>
          <a:ln/>
        </p:spPr>
        <p:txBody>
          <a:bodyPr wrap="square" lIns="0" tIns="0" rIns="0" bIns="0" rtlCol="0" anchor="ctr"/>
          <a:lstStyle/>
          <a:p>
            <a:pPr indent="0" marL="0">
              <a:buNone/>
            </a:pPr>
            <a:r>
              <a:rPr lang="en-US" sz="1400" b="1" dirty="0">
                <a:solidFill>
                  <a:srgbClr val="0B2545"/>
                </a:solidFill>
                <a:latin typeface="Georgia" pitchFamily="34" charset="0"/>
                <a:ea typeface="Georgia" pitchFamily="34" charset="-122"/>
                <a:cs typeface="Georgia" pitchFamily="34" charset="-120"/>
              </a:rPr>
              <a:t>Uncertainty</a:t>
            </a:r>
            <a:endParaRPr lang="en-US" sz="1400" dirty="0"/>
          </a:p>
        </p:txBody>
      </p:sp>
      <p:sp>
        <p:nvSpPr>
          <p:cNvPr id="20" name="Text 18"/>
          <p:cNvSpPr/>
          <p:nvPr/>
        </p:nvSpPr>
        <p:spPr>
          <a:xfrm>
            <a:off x="2103120" y="3922776"/>
            <a:ext cx="2606040" cy="594360"/>
          </a:xfrm>
          <a:prstGeom prst="rect">
            <a:avLst/>
          </a:prstGeom>
          <a:noFill/>
          <a:ln/>
        </p:spPr>
        <p:txBody>
          <a:bodyPr wrap="square" lIns="0" tIns="0" rIns="0" bIns="0" rtlCol="0" anchor="ctr"/>
          <a:lstStyle/>
          <a:p>
            <a:pPr indent="0" marL="0">
              <a:lnSpc>
                <a:spcPct val="120000"/>
              </a:lnSpc>
              <a:buNone/>
            </a:pPr>
            <a:r>
              <a:rPr lang="en-US" sz="1050" dirty="0">
                <a:solidFill>
                  <a:srgbClr val="1F2933"/>
                </a:solidFill>
                <a:latin typeface="Calibri" pitchFamily="34" charset="0"/>
                <a:ea typeface="Calibri" pitchFamily="34" charset="-122"/>
                <a:cs typeface="Calibri" pitchFamily="34" charset="-120"/>
              </a:rPr>
              <a:t>Irreducible. Variance of the marginal class distribution. Football's intrinsic noise floor.</a:t>
            </a:r>
            <a:endParaRPr lang="en-US" sz="1050" dirty="0"/>
          </a:p>
        </p:txBody>
      </p:sp>
      <p:sp>
        <p:nvSpPr>
          <p:cNvPr id="21" name="Shape 19"/>
          <p:cNvSpPr/>
          <p:nvPr/>
        </p:nvSpPr>
        <p:spPr>
          <a:xfrm>
            <a:off x="4937760" y="1325880"/>
            <a:ext cx="3749040" cy="150876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22" name="Shape 20"/>
          <p:cNvSpPr/>
          <p:nvPr/>
        </p:nvSpPr>
        <p:spPr>
          <a:xfrm>
            <a:off x="4937760" y="1325880"/>
            <a:ext cx="54864" cy="1508760"/>
          </a:xfrm>
          <a:prstGeom prst="rect">
            <a:avLst/>
          </a:prstGeom>
          <a:solidFill>
            <a:srgbClr val="E07A5F"/>
          </a:solidFill>
          <a:ln/>
        </p:spPr>
      </p:sp>
      <p:sp>
        <p:nvSpPr>
          <p:cNvPr id="23" name="Text 21"/>
          <p:cNvSpPr/>
          <p:nvPr/>
        </p:nvSpPr>
        <p:spPr>
          <a:xfrm>
            <a:off x="5102352" y="1417320"/>
            <a:ext cx="3520440" cy="274320"/>
          </a:xfrm>
          <a:prstGeom prst="rect">
            <a:avLst/>
          </a:prstGeom>
          <a:noFill/>
          <a:ln/>
        </p:spPr>
        <p:txBody>
          <a:bodyPr wrap="square" lIns="0" tIns="0" rIns="0" bIns="0" rtlCol="0" anchor="ctr"/>
          <a:lstStyle/>
          <a:p>
            <a:pPr indent="0" marL="0">
              <a:buNone/>
            </a:pPr>
            <a:r>
              <a:rPr lang="en-US" sz="1000" b="1" spc="300" kern="0" dirty="0">
                <a:solidFill>
                  <a:srgbClr val="13315C"/>
                </a:solidFill>
                <a:latin typeface="Calibri" pitchFamily="34" charset="0"/>
                <a:ea typeface="Calibri" pitchFamily="34" charset="-122"/>
                <a:cs typeface="Calibri" pitchFamily="34" charset="-120"/>
              </a:rPr>
              <a:t>Murphy decomposition</a:t>
            </a:r>
            <a:endParaRPr lang="en-US" sz="1000" dirty="0"/>
          </a:p>
        </p:txBody>
      </p:sp>
      <p:sp>
        <p:nvSpPr>
          <p:cNvPr id="24" name="Text 22"/>
          <p:cNvSpPr/>
          <p:nvPr/>
        </p:nvSpPr>
        <p:spPr>
          <a:xfrm>
            <a:off x="5102352" y="1737360"/>
            <a:ext cx="3520440" cy="1005840"/>
          </a:xfrm>
          <a:prstGeom prst="rect">
            <a:avLst/>
          </a:prstGeom>
          <a:noFill/>
          <a:ln/>
        </p:spPr>
        <p:txBody>
          <a:bodyPr wrap="square" lIns="0" tIns="0" rIns="0" bIns="0" rtlCol="0" anchor="ctr"/>
          <a:lstStyle/>
          <a:p>
            <a:pPr algn="ctr" indent="0" marL="0">
              <a:lnSpc>
                <a:spcPct val="130000"/>
              </a:lnSpc>
              <a:buNone/>
            </a:pPr>
            <a:r>
              <a:rPr lang="en-US" sz="1400" i="1" dirty="0">
                <a:solidFill>
                  <a:srgbClr val="1F2933"/>
                </a:solidFill>
                <a:latin typeface="Georgia" pitchFamily="34" charset="0"/>
                <a:ea typeface="Georgia" pitchFamily="34" charset="-122"/>
                <a:cs typeface="Georgia" pitchFamily="34" charset="-120"/>
              </a:rPr>
              <a:t>Brier  =  Reliability  −  Resolution  +  Uncertainty</a:t>
            </a:r>
            <a:endParaRPr lang="en-US" sz="1400" dirty="0"/>
          </a:p>
        </p:txBody>
      </p:sp>
      <p:sp>
        <p:nvSpPr>
          <p:cNvPr id="25" name="Shape 23"/>
          <p:cNvSpPr/>
          <p:nvPr/>
        </p:nvSpPr>
        <p:spPr>
          <a:xfrm>
            <a:off x="4937760" y="3017520"/>
            <a:ext cx="3749040" cy="160020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pic>
        <p:nvPicPr>
          <p:cNvPr id="26" name="Image 0" descr="/Users/m2/Projects/STAT 5243/43 Project 4/figures/09_market_calibration.png">    </p:cNvPr>
          <p:cNvPicPr>
            <a:picLocks noChangeAspect="1"/>
          </p:cNvPicPr>
          <p:nvPr/>
        </p:nvPicPr>
        <p:blipFill>
          <a:blip r:embed="rId1"/>
          <a:srcRect l="0" r="0" t="0" b="0"/>
          <a:stretch/>
        </p:blipFill>
        <p:spPr>
          <a:xfrm>
            <a:off x="4983480" y="3054096"/>
            <a:ext cx="3657600" cy="1298448"/>
          </a:xfrm>
          <a:prstGeom prst="rect">
            <a:avLst/>
          </a:prstGeom>
        </p:spPr>
      </p:pic>
      <p:sp>
        <p:nvSpPr>
          <p:cNvPr id="27" name="Text 24"/>
          <p:cNvSpPr/>
          <p:nvPr/>
        </p:nvSpPr>
        <p:spPr>
          <a:xfrm>
            <a:off x="4937760" y="4370832"/>
            <a:ext cx="3749040" cy="228600"/>
          </a:xfrm>
          <a:prstGeom prst="rect">
            <a:avLst/>
          </a:prstGeom>
          <a:noFill/>
          <a:ln/>
        </p:spPr>
        <p:txBody>
          <a:bodyPr wrap="square" lIns="0" tIns="0" rIns="0" bIns="0" rtlCol="0" anchor="ctr"/>
          <a:lstStyle/>
          <a:p>
            <a:pPr algn="ctr" indent="0" marL="0">
              <a:buNone/>
            </a:pPr>
            <a:r>
              <a:rPr lang="en-US" sz="950" i="1" dirty="0">
                <a:solidFill>
                  <a:srgbClr val="5A6573"/>
                </a:solidFill>
                <a:latin typeface="Calibri" pitchFamily="34" charset="0"/>
                <a:ea typeface="Calibri" pitchFamily="34" charset="-122"/>
                <a:cs typeface="Calibri" pitchFamily="34" charset="-120"/>
              </a:rPr>
              <a:t>Pinnacle close: essentially on the diagonal — pure calibration.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Knowhow Appendix   ·   Liang · Chen · Collaborator</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A4 / A12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A4  ·  SCORE MODEL</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0B2545"/>
                </a:solidFill>
                <a:latin typeface="Georgia" pitchFamily="34" charset="0"/>
                <a:ea typeface="Georgia" pitchFamily="34" charset="-122"/>
                <a:cs typeface="Georgia" pitchFamily="34" charset="-120"/>
              </a:rPr>
              <a:t>Dixon-Coles bivariate Poisson</a:t>
            </a:r>
            <a:endParaRPr lang="en-US" sz="2600" dirty="0"/>
          </a:p>
        </p:txBody>
      </p:sp>
      <p:sp>
        <p:nvSpPr>
          <p:cNvPr id="8" name="Shape 6"/>
          <p:cNvSpPr/>
          <p:nvPr/>
        </p:nvSpPr>
        <p:spPr>
          <a:xfrm>
            <a:off x="4754880" y="1325880"/>
            <a:ext cx="3931920" cy="118872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754880" y="1325880"/>
            <a:ext cx="54864" cy="1188720"/>
          </a:xfrm>
          <a:prstGeom prst="rect">
            <a:avLst/>
          </a:prstGeom>
          <a:solidFill>
            <a:srgbClr val="E07A5F"/>
          </a:solidFill>
          <a:ln/>
        </p:spPr>
      </p:sp>
      <p:sp>
        <p:nvSpPr>
          <p:cNvPr id="10" name="Text 8"/>
          <p:cNvSpPr/>
          <p:nvPr/>
        </p:nvSpPr>
        <p:spPr>
          <a:xfrm>
            <a:off x="4919472" y="1417320"/>
            <a:ext cx="3703320" cy="274320"/>
          </a:xfrm>
          <a:prstGeom prst="rect">
            <a:avLst/>
          </a:prstGeom>
          <a:noFill/>
          <a:ln/>
        </p:spPr>
        <p:txBody>
          <a:bodyPr wrap="square" lIns="0" tIns="0" rIns="0" bIns="0" rtlCol="0" anchor="ctr"/>
          <a:lstStyle/>
          <a:p>
            <a:pPr indent="0" marL="0">
              <a:buNone/>
            </a:pPr>
            <a:r>
              <a:rPr lang="en-US" sz="1000" b="1" spc="300" kern="0" dirty="0">
                <a:solidFill>
                  <a:srgbClr val="13315C"/>
                </a:solidFill>
                <a:latin typeface="Calibri" pitchFamily="34" charset="0"/>
                <a:ea typeface="Calibri" pitchFamily="34" charset="-122"/>
                <a:cs typeface="Calibri" pitchFamily="34" charset="-120"/>
              </a:rPr>
              <a:t>Match-level scoring rates</a:t>
            </a:r>
            <a:endParaRPr lang="en-US" sz="1000" dirty="0"/>
          </a:p>
        </p:txBody>
      </p:sp>
      <p:sp>
        <p:nvSpPr>
          <p:cNvPr id="11" name="Text 9"/>
          <p:cNvSpPr/>
          <p:nvPr/>
        </p:nvSpPr>
        <p:spPr>
          <a:xfrm>
            <a:off x="4919472" y="1737360"/>
            <a:ext cx="3703320" cy="685800"/>
          </a:xfrm>
          <a:prstGeom prst="rect">
            <a:avLst/>
          </a:prstGeom>
          <a:noFill/>
          <a:ln/>
        </p:spPr>
        <p:txBody>
          <a:bodyPr wrap="square" lIns="0" tIns="0" rIns="0" bIns="0" rtlCol="0" anchor="ctr"/>
          <a:lstStyle/>
          <a:p>
            <a:pPr algn="ctr" indent="0" marL="0">
              <a:lnSpc>
                <a:spcPct val="130000"/>
              </a:lnSpc>
              <a:buNone/>
            </a:pPr>
            <a:r>
              <a:rPr lang="en-US" sz="1300" i="1" dirty="0">
                <a:solidFill>
                  <a:srgbClr val="1F2933"/>
                </a:solidFill>
                <a:latin typeface="Georgia" pitchFamily="34" charset="0"/>
                <a:ea typeface="Georgia" pitchFamily="34" charset="-122"/>
                <a:cs typeface="Georgia" pitchFamily="34" charset="-120"/>
              </a:rPr>
              <a:t>λ = exp(α_h + β_a + γ)</a:t>
            </a:r>
            <a:endParaRPr lang="en-US" sz="1300" dirty="0"/>
          </a:p>
          <a:p>
            <a:pPr algn="ctr" indent="0" marL="0">
              <a:lnSpc>
                <a:spcPct val="130000"/>
              </a:lnSpc>
              <a:buNone/>
            </a:pPr>
            <a:r>
              <a:rPr lang="en-US" sz="1300" i="1" dirty="0">
                <a:solidFill>
                  <a:srgbClr val="1F2933"/>
                </a:solidFill>
                <a:latin typeface="Georgia" pitchFamily="34" charset="0"/>
                <a:ea typeface="Georgia" pitchFamily="34" charset="-122"/>
                <a:cs typeface="Georgia" pitchFamily="34" charset="-120"/>
              </a:rPr>
              <a:t>μ = exp(α_a + β_h)</a:t>
            </a:r>
            <a:endParaRPr lang="en-US" sz="1300" dirty="0"/>
          </a:p>
        </p:txBody>
      </p:sp>
      <p:sp>
        <p:nvSpPr>
          <p:cNvPr id="12" name="Shape 10"/>
          <p:cNvSpPr/>
          <p:nvPr/>
        </p:nvSpPr>
        <p:spPr>
          <a:xfrm>
            <a:off x="4754880" y="2606040"/>
            <a:ext cx="3931920" cy="96012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4754880" y="2606040"/>
            <a:ext cx="54864" cy="960120"/>
          </a:xfrm>
          <a:prstGeom prst="rect">
            <a:avLst/>
          </a:prstGeom>
          <a:solidFill>
            <a:srgbClr val="E07A5F"/>
          </a:solidFill>
          <a:ln/>
        </p:spPr>
      </p:sp>
      <p:sp>
        <p:nvSpPr>
          <p:cNvPr id="14" name="Text 12"/>
          <p:cNvSpPr/>
          <p:nvPr/>
        </p:nvSpPr>
        <p:spPr>
          <a:xfrm>
            <a:off x="4919472" y="2697480"/>
            <a:ext cx="3703320" cy="274320"/>
          </a:xfrm>
          <a:prstGeom prst="rect">
            <a:avLst/>
          </a:prstGeom>
          <a:noFill/>
          <a:ln/>
        </p:spPr>
        <p:txBody>
          <a:bodyPr wrap="square" lIns="0" tIns="0" rIns="0" bIns="0" rtlCol="0" anchor="ctr"/>
          <a:lstStyle/>
          <a:p>
            <a:pPr indent="0" marL="0">
              <a:buNone/>
            </a:pPr>
            <a:r>
              <a:rPr lang="en-US" sz="1000" b="1" spc="300" kern="0" dirty="0">
                <a:solidFill>
                  <a:srgbClr val="13315C"/>
                </a:solidFill>
                <a:latin typeface="Calibri" pitchFamily="34" charset="0"/>
                <a:ea typeface="Calibri" pitchFamily="34" charset="-122"/>
                <a:cs typeface="Calibri" pitchFamily="34" charset="-120"/>
              </a:rPr>
              <a:t>Joint pmf with low-score correction</a:t>
            </a:r>
            <a:endParaRPr lang="en-US" sz="1000" dirty="0"/>
          </a:p>
        </p:txBody>
      </p:sp>
      <p:sp>
        <p:nvSpPr>
          <p:cNvPr id="15" name="Text 13"/>
          <p:cNvSpPr/>
          <p:nvPr/>
        </p:nvSpPr>
        <p:spPr>
          <a:xfrm>
            <a:off x="4919472" y="3017520"/>
            <a:ext cx="3703320" cy="457200"/>
          </a:xfrm>
          <a:prstGeom prst="rect">
            <a:avLst/>
          </a:prstGeom>
          <a:noFill/>
          <a:ln/>
        </p:spPr>
        <p:txBody>
          <a:bodyPr wrap="square" lIns="0" tIns="0" rIns="0" bIns="0" rtlCol="0" anchor="ctr"/>
          <a:lstStyle/>
          <a:p>
            <a:pPr algn="ctr" indent="0" marL="0">
              <a:lnSpc>
                <a:spcPct val="130000"/>
              </a:lnSpc>
              <a:buNone/>
            </a:pPr>
            <a:r>
              <a:rPr lang="en-US" sz="1100" i="1" dirty="0">
                <a:solidFill>
                  <a:srgbClr val="1F2933"/>
                </a:solidFill>
                <a:latin typeface="Georgia" pitchFamily="34" charset="0"/>
                <a:ea typeface="Georgia" pitchFamily="34" charset="-122"/>
                <a:cs typeface="Georgia" pitchFamily="34" charset="-120"/>
              </a:rPr>
              <a:t>P(X=x, Y=y) = τ(x,y; λ,μ,ρ) · Pois(x;λ) · Pois(y;μ)</a:t>
            </a:r>
            <a:endParaRPr lang="en-US" sz="1100" dirty="0"/>
          </a:p>
        </p:txBody>
      </p:sp>
      <p:sp>
        <p:nvSpPr>
          <p:cNvPr id="16" name="Shape 14"/>
          <p:cNvSpPr/>
          <p:nvPr/>
        </p:nvSpPr>
        <p:spPr>
          <a:xfrm>
            <a:off x="4754880" y="3657600"/>
            <a:ext cx="3931920" cy="96012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4754880" y="3657600"/>
            <a:ext cx="54864" cy="960120"/>
          </a:xfrm>
          <a:prstGeom prst="rect">
            <a:avLst/>
          </a:prstGeom>
          <a:solidFill>
            <a:srgbClr val="E07A5F"/>
          </a:solidFill>
          <a:ln/>
        </p:spPr>
      </p:sp>
      <p:sp>
        <p:nvSpPr>
          <p:cNvPr id="18" name="Text 16"/>
          <p:cNvSpPr/>
          <p:nvPr/>
        </p:nvSpPr>
        <p:spPr>
          <a:xfrm>
            <a:off x="4919472" y="3749040"/>
            <a:ext cx="3703320" cy="274320"/>
          </a:xfrm>
          <a:prstGeom prst="rect">
            <a:avLst/>
          </a:prstGeom>
          <a:noFill/>
          <a:ln/>
        </p:spPr>
        <p:txBody>
          <a:bodyPr wrap="square" lIns="0" tIns="0" rIns="0" bIns="0" rtlCol="0" anchor="ctr"/>
          <a:lstStyle/>
          <a:p>
            <a:pPr indent="0" marL="0">
              <a:buNone/>
            </a:pPr>
            <a:r>
              <a:rPr lang="en-US" sz="1000" b="1" spc="300" kern="0" dirty="0">
                <a:solidFill>
                  <a:srgbClr val="13315C"/>
                </a:solidFill>
                <a:latin typeface="Calibri" pitchFamily="34" charset="0"/>
                <a:ea typeface="Calibri" pitchFamily="34" charset="-122"/>
                <a:cs typeface="Calibri" pitchFamily="34" charset="-120"/>
              </a:rPr>
              <a:t>tau τ — fixes 0-0 / 1-1 underprediction</a:t>
            </a:r>
            <a:endParaRPr lang="en-US" sz="1000" dirty="0"/>
          </a:p>
        </p:txBody>
      </p:sp>
      <p:sp>
        <p:nvSpPr>
          <p:cNvPr id="19" name="Text 17"/>
          <p:cNvSpPr/>
          <p:nvPr/>
        </p:nvSpPr>
        <p:spPr>
          <a:xfrm>
            <a:off x="4919472" y="4069080"/>
            <a:ext cx="3703320" cy="457200"/>
          </a:xfrm>
          <a:prstGeom prst="rect">
            <a:avLst/>
          </a:prstGeom>
          <a:noFill/>
          <a:ln/>
        </p:spPr>
        <p:txBody>
          <a:bodyPr wrap="square" lIns="0" tIns="0" rIns="0" bIns="0" rtlCol="0" anchor="ctr"/>
          <a:lstStyle/>
          <a:p>
            <a:pPr algn="ctr" indent="0" marL="0">
              <a:lnSpc>
                <a:spcPct val="130000"/>
              </a:lnSpc>
              <a:buNone/>
            </a:pPr>
            <a:r>
              <a:rPr lang="en-US" sz="1100" i="1" dirty="0">
                <a:solidFill>
                  <a:srgbClr val="1F2933"/>
                </a:solidFill>
                <a:latin typeface="Georgia" pitchFamily="34" charset="0"/>
                <a:ea typeface="Georgia" pitchFamily="34" charset="-122"/>
                <a:cs typeface="Georgia" pitchFamily="34" charset="-120"/>
              </a:rPr>
              <a:t>τ(0,0)=1−λμρ   τ(0,1)=1+λρ</a:t>
            </a:r>
            <a:endParaRPr lang="en-US" sz="1100" dirty="0"/>
          </a:p>
          <a:p>
            <a:pPr algn="ctr" indent="0" marL="0">
              <a:lnSpc>
                <a:spcPct val="130000"/>
              </a:lnSpc>
              <a:buNone/>
            </a:pPr>
            <a:r>
              <a:rPr lang="en-US" sz="1100" i="1" dirty="0">
                <a:solidFill>
                  <a:srgbClr val="1F2933"/>
                </a:solidFill>
                <a:latin typeface="Georgia" pitchFamily="34" charset="0"/>
                <a:ea typeface="Georgia" pitchFamily="34" charset="-122"/>
                <a:cs typeface="Georgia" pitchFamily="34" charset="-120"/>
              </a:rPr>
              <a:t>τ(1,0)=1+μρ      τ(1,1)=1−ρ</a:t>
            </a:r>
            <a:endParaRPr lang="en-US" sz="1100" dirty="0"/>
          </a:p>
        </p:txBody>
      </p:sp>
      <p:sp>
        <p:nvSpPr>
          <p:cNvPr id="20" name="Text 18"/>
          <p:cNvSpPr/>
          <p:nvPr/>
        </p:nvSpPr>
        <p:spPr>
          <a:xfrm>
            <a:off x="457200" y="1325880"/>
            <a:ext cx="4114800" cy="3337560"/>
          </a:xfrm>
          <a:prstGeom prst="rect">
            <a:avLst/>
          </a:prstGeom>
          <a:noFill/>
          <a:ln/>
        </p:spPr>
        <p:txBody>
          <a:bodyPr wrap="square" lIns="0" tIns="0" rIns="0" bIns="0" rtlCol="0" anchor="ctr"/>
          <a:lstStyle/>
          <a:p>
            <a:pPr indent="0" marL="0">
              <a:lnSpc>
                <a:spcPct val="130000"/>
              </a:lnSpc>
              <a:buNone/>
            </a:pPr>
            <a:r>
              <a:rPr lang="en-US" sz="1100" b="1" dirty="0">
                <a:solidFill>
                  <a:srgbClr val="0B2545"/>
                </a:solidFill>
                <a:latin typeface="Calibri" pitchFamily="34" charset="0"/>
                <a:ea typeface="Calibri" pitchFamily="34" charset="-122"/>
                <a:cs typeface="Calibri" pitchFamily="34" charset="-120"/>
              </a:rPr>
              <a:t>Per-team latent attack and defence.
</a:t>
            </a:r>
            <a:pPr indent="0" marL="0">
              <a:lnSpc>
                <a:spcPct val="130000"/>
              </a:lnSpc>
              <a:buNone/>
            </a:pPr>
            <a:r>
              <a:rPr lang="en-US" sz="1100" dirty="0">
                <a:solidFill>
                  <a:srgbClr val="000000"/>
                </a:solidFill>
                <a:latin typeface="Consolas" pitchFamily="34" charset="0"/>
                <a:ea typeface="Consolas" pitchFamily="34" charset="-122"/>
                <a:cs typeface="Consolas" pitchFamily="34" charset="-120"/>
              </a:rPr>
              <a:t>α_t  =  attack strength of team t
</a:t>
            </a:r>
            <a:pPr indent="0" marL="0">
              <a:lnSpc>
                <a:spcPct val="130000"/>
              </a:lnSpc>
              <a:buNone/>
            </a:pPr>
            <a:r>
              <a:rPr lang="en-US" sz="1100" dirty="0">
                <a:solidFill>
                  <a:srgbClr val="000000"/>
                </a:solidFill>
                <a:latin typeface="Consolas" pitchFamily="34" charset="0"/>
                <a:ea typeface="Consolas" pitchFamily="34" charset="-122"/>
                <a:cs typeface="Consolas" pitchFamily="34" charset="-120"/>
              </a:rPr>
              <a:t>β_t  =  defensive frailty (positive → leaks goals)
</a:t>
            </a:r>
            <a:pPr indent="0" marL="0">
              <a:lnSpc>
                <a:spcPct val="130000"/>
              </a:lnSpc>
              <a:buNone/>
            </a:pPr>
            <a:r>
              <a:rPr lang="en-US" sz="1100" dirty="0">
                <a:solidFill>
                  <a:srgbClr val="000000"/>
                </a:solidFill>
                <a:latin typeface="Consolas" pitchFamily="34" charset="0"/>
                <a:ea typeface="Consolas" pitchFamily="34" charset="-122"/>
                <a:cs typeface="Consolas" pitchFamily="34" charset="-120"/>
              </a:rPr>
              <a:t>γ     =  global home-advantage offset
</a:t>
            </a:r>
            <a:pPr indent="0" marL="0">
              <a:lnSpc>
                <a:spcPct val="130000"/>
              </a:lnSpc>
              <a:buNone/>
            </a:pPr>
            <a:r>
              <a:rPr lang="en-US" sz="1100" dirty="0">
                <a:solidFill>
                  <a:srgbClr val="000000"/>
                </a:solidFill>
                <a:latin typeface="Consolas" pitchFamily="34" charset="0"/>
                <a:ea typeface="Consolas" pitchFamily="34" charset="-122"/>
                <a:cs typeface="Consolas" pitchFamily="34" charset="-120"/>
              </a:rPr>
              <a:t>ρ     =  low-score correlation correction
</a:t>
            </a:r>
            <a:pPr indent="0" marL="0">
              <a:lnSpc>
                <a:spcPct val="130000"/>
              </a:lnSpc>
              <a:buNone/>
            </a:pPr>
            <a:r>
              <a:rPr lang="en-US" sz="1100" i="1" dirty="0">
                <a:solidFill>
                  <a:srgbClr val="5A6573"/>
                </a:solidFill>
                <a:latin typeface="Calibri" pitchFamily="34" charset="0"/>
                <a:ea typeface="Calibri" pitchFamily="34" charset="-122"/>
                <a:cs typeface="Calibri" pitchFamily="34" charset="-120"/>
              </a:rPr>
              <a:t>Identifiability constraint:  Σ_t α_t = 0.
</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Fitted by SLSQP-constrained MLE on a 0.0065/day exponentially decayed sample.
</a:t>
            </a:r>
            <a:pPr indent="0" marL="0">
              <a:lnSpc>
                <a:spcPct val="130000"/>
              </a:lnSpc>
              <a:buNone/>
            </a:pPr>
            <a:endParaRPr lang="en-US" sz="1100" dirty="0"/>
          </a:p>
          <a:p>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Marginalise the joint to recover H/D/A:</a:t>
            </a:r>
            <a:endParaRPr lang="en-US" sz="1100" dirty="0"/>
          </a:p>
          <a:p>
            <a:pPr indent="0" marL="0">
              <a:lnSpc>
                <a:spcPct val="130000"/>
              </a:lnSpc>
              <a:buNone/>
            </a:pPr>
            <a:endParaRPr lang="en-US" sz="1100" dirty="0"/>
          </a:p>
          <a:p>
            <a:pPr indent="0" marL="0">
              <a:lnSpc>
                <a:spcPct val="130000"/>
              </a:lnSpc>
              <a:buNone/>
            </a:pPr>
            <a:r>
              <a:rPr lang="en-US" sz="1000" dirty="0">
                <a:solidFill>
                  <a:srgbClr val="13315C"/>
                </a:solidFill>
                <a:latin typeface="Consolas" pitchFamily="34" charset="0"/>
                <a:ea typeface="Consolas" pitchFamily="34" charset="-122"/>
                <a:cs typeface="Consolas" pitchFamily="34" charset="-120"/>
              </a:rPr>
              <a:t>p_H = Σ_{x&gt;y} P(x,y)  ·  p_D = Σ_x P(x,x)  ·  p_A = Σ_{x&lt;y} P(x,y)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Knowhow Appendix   ·   Liang · Chen · Collaborator</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A5 / A12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A5  ·  WEIGHTING</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0B2545"/>
                </a:solidFill>
                <a:latin typeface="Georgia" pitchFamily="34" charset="0"/>
                <a:ea typeface="Georgia" pitchFamily="34" charset="-122"/>
                <a:cs typeface="Georgia" pitchFamily="34" charset="-120"/>
              </a:rPr>
              <a:t>Time-decay weighting</a:t>
            </a:r>
            <a:endParaRPr lang="en-US" sz="2600" dirty="0"/>
          </a:p>
        </p:txBody>
      </p:sp>
      <p:sp>
        <p:nvSpPr>
          <p:cNvPr id="8" name="Text 6"/>
          <p:cNvSpPr/>
          <p:nvPr/>
        </p:nvSpPr>
        <p:spPr>
          <a:xfrm>
            <a:off x="457200" y="1325880"/>
            <a:ext cx="4206240" cy="1325880"/>
          </a:xfrm>
          <a:prstGeom prst="rect">
            <a:avLst/>
          </a:prstGeom>
          <a:noFill/>
          <a:ln/>
        </p:spPr>
        <p:txBody>
          <a:bodyPr wrap="square" lIns="0" tIns="0" rIns="0" bIns="0" rtlCol="0" anchor="ctr"/>
          <a:lstStyle/>
          <a:p>
            <a:pPr indent="0" marL="0">
              <a:lnSpc>
                <a:spcPct val="130000"/>
              </a:lnSpc>
              <a:buNone/>
            </a:pPr>
            <a:r>
              <a:rPr lang="en-US" sz="1200" b="1" dirty="0">
                <a:solidFill>
                  <a:srgbClr val="0B2545"/>
                </a:solidFill>
                <a:latin typeface="Calibri" pitchFamily="34" charset="0"/>
                <a:ea typeface="Calibri" pitchFamily="34" charset="-122"/>
                <a:cs typeface="Calibri" pitchFamily="34" charset="-120"/>
              </a:rPr>
              <a:t>Football is non-stationary.
</a:t>
            </a:r>
            <a:pPr indent="0" marL="0">
              <a:lnSpc>
                <a:spcPct val="130000"/>
              </a:lnSpc>
              <a:buNone/>
            </a:pPr>
            <a:r>
              <a:rPr lang="en-US" sz="1200" dirty="0">
                <a:solidFill>
                  <a:srgbClr val="1F2933"/>
                </a:solidFill>
                <a:latin typeface="Calibri" pitchFamily="34" charset="0"/>
                <a:ea typeface="Calibri" pitchFamily="34" charset="-122"/>
                <a:cs typeface="Calibri" pitchFamily="34" charset="-120"/>
              </a:rPr>
              <a:t>Manager turnover, transfers, tactical evolution — a match from 2002 should not be weighted equally to one from last week.
</a:t>
            </a:r>
            <a:pPr indent="0" marL="0">
              <a:lnSpc>
                <a:spcPct val="130000"/>
              </a:lnSpc>
              <a:buNone/>
            </a:pPr>
            <a:r>
              <a:rPr lang="en-US" sz="1200" b="1" dirty="0">
                <a:solidFill>
                  <a:srgbClr val="0B2545"/>
                </a:solidFill>
                <a:latin typeface="Calibri" pitchFamily="34" charset="0"/>
                <a:ea typeface="Calibri" pitchFamily="34" charset="-122"/>
                <a:cs typeface="Calibri" pitchFamily="34" charset="-120"/>
              </a:rPr>
              <a:t>
Exponential decay weight in the likelihood:
</a:t>
            </a:r>
            <a:endParaRPr lang="en-US" sz="1200" dirty="0"/>
          </a:p>
        </p:txBody>
      </p:sp>
      <p:sp>
        <p:nvSpPr>
          <p:cNvPr id="9" name="Shape 7"/>
          <p:cNvSpPr/>
          <p:nvPr/>
        </p:nvSpPr>
        <p:spPr>
          <a:xfrm>
            <a:off x="457200" y="2697480"/>
            <a:ext cx="4206240" cy="77724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10" name="Shape 8"/>
          <p:cNvSpPr/>
          <p:nvPr/>
        </p:nvSpPr>
        <p:spPr>
          <a:xfrm>
            <a:off x="457200" y="2697480"/>
            <a:ext cx="54864" cy="777240"/>
          </a:xfrm>
          <a:prstGeom prst="rect">
            <a:avLst/>
          </a:prstGeom>
          <a:solidFill>
            <a:srgbClr val="E07A5F"/>
          </a:solidFill>
          <a:ln/>
        </p:spPr>
      </p:sp>
      <p:sp>
        <p:nvSpPr>
          <p:cNvPr id="11" name="Text 9"/>
          <p:cNvSpPr/>
          <p:nvPr/>
        </p:nvSpPr>
        <p:spPr>
          <a:xfrm>
            <a:off x="621792" y="2788920"/>
            <a:ext cx="3977640" cy="274320"/>
          </a:xfrm>
          <a:prstGeom prst="rect">
            <a:avLst/>
          </a:prstGeom>
          <a:noFill/>
          <a:ln/>
        </p:spPr>
        <p:txBody>
          <a:bodyPr wrap="square" lIns="0" tIns="0" rIns="0" bIns="0" rtlCol="0" anchor="ctr"/>
          <a:lstStyle/>
          <a:p>
            <a:pPr indent="0" marL="0">
              <a:buNone/>
            </a:pPr>
            <a:r>
              <a:rPr lang="en-US" sz="1000" b="1" spc="300" kern="0" dirty="0">
                <a:solidFill>
                  <a:srgbClr val="13315C"/>
                </a:solidFill>
                <a:latin typeface="Calibri" pitchFamily="34" charset="0"/>
                <a:ea typeface="Calibri" pitchFamily="34" charset="-122"/>
                <a:cs typeface="Calibri" pitchFamily="34" charset="-120"/>
              </a:rPr>
              <a:t>Weight of a historical match i</a:t>
            </a:r>
            <a:endParaRPr lang="en-US" sz="1000" dirty="0"/>
          </a:p>
        </p:txBody>
      </p:sp>
      <p:sp>
        <p:nvSpPr>
          <p:cNvPr id="12" name="Text 10"/>
          <p:cNvSpPr/>
          <p:nvPr/>
        </p:nvSpPr>
        <p:spPr>
          <a:xfrm>
            <a:off x="621792" y="3108960"/>
            <a:ext cx="3977640" cy="274320"/>
          </a:xfrm>
          <a:prstGeom prst="rect">
            <a:avLst/>
          </a:prstGeom>
          <a:noFill/>
          <a:ln/>
        </p:spPr>
        <p:txBody>
          <a:bodyPr wrap="square" lIns="0" tIns="0" rIns="0" bIns="0" rtlCol="0" anchor="ctr"/>
          <a:lstStyle/>
          <a:p>
            <a:pPr algn="ctr" indent="0" marL="0">
              <a:lnSpc>
                <a:spcPct val="130000"/>
              </a:lnSpc>
              <a:buNone/>
            </a:pPr>
            <a:r>
              <a:rPr lang="en-US" sz="1600" i="1" dirty="0">
                <a:solidFill>
                  <a:srgbClr val="1F2933"/>
                </a:solidFill>
                <a:latin typeface="Georgia" pitchFamily="34" charset="0"/>
                <a:ea typeface="Georgia" pitchFamily="34" charset="-122"/>
                <a:cs typeface="Georgia" pitchFamily="34" charset="-120"/>
              </a:rPr>
              <a:t>w_i  =  exp(−λ · days_old_i)</a:t>
            </a:r>
            <a:endParaRPr lang="en-US" sz="1600" dirty="0"/>
          </a:p>
        </p:txBody>
      </p:sp>
      <p:sp>
        <p:nvSpPr>
          <p:cNvPr id="13" name="Text 11"/>
          <p:cNvSpPr/>
          <p:nvPr/>
        </p:nvSpPr>
        <p:spPr>
          <a:xfrm>
            <a:off x="457200" y="3703320"/>
            <a:ext cx="4206240" cy="914400"/>
          </a:xfrm>
          <a:prstGeom prst="rect">
            <a:avLst/>
          </a:prstGeom>
          <a:noFill/>
          <a:ln/>
        </p:spPr>
        <p:txBody>
          <a:bodyPr wrap="square" lIns="0" tIns="0" rIns="0" bIns="0" rtlCol="0" anchor="ctr"/>
          <a:lstStyle/>
          <a:p>
            <a:pPr indent="0" marL="0">
              <a:lnSpc>
                <a:spcPct val="130000"/>
              </a:lnSpc>
              <a:buNone/>
            </a:pPr>
            <a:r>
              <a:rPr lang="en-US" sz="1150" b="1" dirty="0">
                <a:solidFill>
                  <a:srgbClr val="0B2545"/>
                </a:solidFill>
                <a:latin typeface="Consolas" pitchFamily="34" charset="0"/>
                <a:ea typeface="Consolas" pitchFamily="34" charset="-122"/>
                <a:cs typeface="Consolas" pitchFamily="34" charset="-120"/>
              </a:rPr>
              <a:t>λ = 0.0065 / day</a:t>
            </a:r>
            <a:pPr indent="0" marL="0">
              <a:lnSpc>
                <a:spcPct val="130000"/>
              </a:lnSpc>
              <a:buNone/>
            </a:pPr>
            <a:r>
              <a:rPr lang="en-US" sz="1150" dirty="0">
                <a:solidFill>
                  <a:srgbClr val="1F2933"/>
                </a:solidFill>
                <a:latin typeface="Calibri" pitchFamily="34" charset="0"/>
                <a:ea typeface="Calibri" pitchFamily="34" charset="-122"/>
                <a:cs typeface="Calibri" pitchFamily="34" charset="-120"/>
              </a:rPr>
              <a:t> gives a half-life of about 107 days — roughly 14 matches.
</a:t>
            </a:r>
            <a:pPr indent="0" marL="0">
              <a:lnSpc>
                <a:spcPct val="130000"/>
              </a:lnSpc>
              <a:buNone/>
            </a:pPr>
            <a:r>
              <a:rPr lang="en-US" sz="1150" i="1" dirty="0">
                <a:solidFill>
                  <a:srgbClr val="5A6573"/>
                </a:solidFill>
                <a:latin typeface="Calibri" pitchFamily="34" charset="0"/>
                <a:ea typeface="Calibri" pitchFamily="34" charset="-122"/>
                <a:cs typeface="Calibri" pitchFamily="34" charset="-120"/>
              </a:rPr>
              <a:t>Tuned by walk-forward log-loss; flat (λ=0) loses to decayed by ~0.01.</a:t>
            </a:r>
            <a:endParaRPr lang="en-US" sz="1150" dirty="0"/>
          </a:p>
        </p:txBody>
      </p:sp>
      <p:sp>
        <p:nvSpPr>
          <p:cNvPr id="14" name="Shape 12"/>
          <p:cNvSpPr/>
          <p:nvPr/>
        </p:nvSpPr>
        <p:spPr>
          <a:xfrm>
            <a:off x="4937760" y="1325880"/>
            <a:ext cx="3749040" cy="192024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15" name="Text 13"/>
          <p:cNvSpPr/>
          <p:nvPr/>
        </p:nvSpPr>
        <p:spPr>
          <a:xfrm>
            <a:off x="4937760" y="1417320"/>
            <a:ext cx="3749040" cy="274320"/>
          </a:xfrm>
          <a:prstGeom prst="rect">
            <a:avLst/>
          </a:prstGeom>
          <a:noFill/>
          <a:ln/>
        </p:spPr>
        <p:txBody>
          <a:bodyPr wrap="square" lIns="0" tIns="0" rIns="0" bIns="0" rtlCol="0" anchor="ctr"/>
          <a:lstStyle/>
          <a:p>
            <a:pPr algn="ctr" indent="0" marL="0">
              <a:buNone/>
            </a:pPr>
            <a:r>
              <a:rPr lang="en-US" sz="1000" b="1" spc="300" kern="0" dirty="0">
                <a:solidFill>
                  <a:srgbClr val="7FB3D5"/>
                </a:solidFill>
                <a:latin typeface="Calibri" pitchFamily="34" charset="0"/>
                <a:ea typeface="Calibri" pitchFamily="34" charset="-122"/>
                <a:cs typeface="Calibri" pitchFamily="34" charset="-120"/>
              </a:rPr>
              <a:t>WEIGHT-VS-AGE CURVE (placeholder)</a:t>
            </a:r>
            <a:endParaRPr lang="en-US" sz="1000" dirty="0"/>
          </a:p>
        </p:txBody>
      </p:sp>
      <p:sp>
        <p:nvSpPr>
          <p:cNvPr id="16" name="Text 14"/>
          <p:cNvSpPr/>
          <p:nvPr/>
        </p:nvSpPr>
        <p:spPr>
          <a:xfrm>
            <a:off x="4937760" y="2103120"/>
            <a:ext cx="3749040" cy="228600"/>
          </a:xfrm>
          <a:prstGeom prst="rect">
            <a:avLst/>
          </a:prstGeom>
          <a:noFill/>
          <a:ln/>
        </p:spPr>
        <p:txBody>
          <a:bodyPr wrap="square" lIns="0" tIns="0" rIns="0" bIns="0" rtlCol="0" anchor="ctr"/>
          <a:lstStyle/>
          <a:p>
            <a:pPr algn="ctr" indent="0" marL="0">
              <a:buNone/>
            </a:pPr>
            <a:r>
              <a:rPr lang="en-US" sz="900" dirty="0">
                <a:solidFill>
                  <a:srgbClr val="5A6573"/>
                </a:solidFill>
                <a:latin typeface="Consolas" pitchFamily="34" charset="0"/>
                <a:ea typeface="Consolas" pitchFamily="34" charset="-122"/>
                <a:cs typeface="Consolas" pitchFamily="34" charset="-120"/>
              </a:rPr>
              <a:t>figures/decay_weight_curve.png</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937760" y="3429000"/>
          <a:ext cx="3749040" cy="1097280"/>
        </p:xfrm>
        <a:graphic>
          <a:graphicData uri="http://schemas.openxmlformats.org/drawingml/2006/table">
            <a:tbl>
              <a:tblPr/>
              <a:tblGrid>
                <a:gridCol w="2286000"/>
                <a:gridCol w="1463040"/>
              </a:tblGrid>
              <a:tr h="20116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Match age</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Weight</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r>
              <a:tr h="201168">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30 days</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0.82</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201168">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107 days (half-life)</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b="1" dirty="0">
                          <a:solidFill>
                            <a:srgbClr val="E07A5F"/>
                          </a:solidFill>
                          <a:latin typeface="Calibri" pitchFamily="34" charset="0"/>
                          <a:ea typeface="Calibri" pitchFamily="34" charset="-122"/>
                          <a:cs typeface="Calibri" pitchFamily="34" charset="-120"/>
                        </a:rPr>
                        <a:t>0.50</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201168">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1 year</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0.094</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201168">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3 years</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0.001</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Knowhow Appendix   ·   Liang · Chen · Collaborator</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A6 / A12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A6  ·  STRENGTH RATING</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0B2545"/>
                </a:solidFill>
                <a:latin typeface="Georgia" pitchFamily="34" charset="0"/>
                <a:ea typeface="Georgia" pitchFamily="34" charset="-122"/>
                <a:cs typeface="Georgia" pitchFamily="34" charset="-120"/>
              </a:rPr>
              <a:t>ClubElo update mechanics</a:t>
            </a:r>
            <a:endParaRPr lang="en-US" sz="2600" dirty="0"/>
          </a:p>
        </p:txBody>
      </p:sp>
      <p:sp>
        <p:nvSpPr>
          <p:cNvPr id="8" name="Text 6"/>
          <p:cNvSpPr/>
          <p:nvPr/>
        </p:nvSpPr>
        <p:spPr>
          <a:xfrm>
            <a:off x="457200" y="1325880"/>
            <a:ext cx="4206240" cy="1508760"/>
          </a:xfrm>
          <a:prstGeom prst="rect">
            <a:avLst/>
          </a:prstGeom>
          <a:noFill/>
          <a:ln/>
        </p:spPr>
        <p:txBody>
          <a:bodyPr wrap="square" lIns="0" tIns="0" rIns="0" bIns="0" rtlCol="0" anchor="ctr"/>
          <a:lstStyle/>
          <a:p>
            <a:pPr indent="0" marL="0">
              <a:lnSpc>
                <a:spcPct val="130000"/>
              </a:lnSpc>
              <a:buNone/>
            </a:pPr>
            <a:r>
              <a:rPr lang="en-US" sz="1200" b="1" dirty="0">
                <a:solidFill>
                  <a:srgbClr val="0B2545"/>
                </a:solidFill>
                <a:latin typeface="Calibri" pitchFamily="34" charset="0"/>
                <a:ea typeface="Calibri" pitchFamily="34" charset="-122"/>
                <a:cs typeface="Calibri" pitchFamily="34" charset="-120"/>
              </a:rPr>
              <a:t>Two strength signals.
</a:t>
            </a:r>
            <a:pPr indent="0" marL="0">
              <a:lnSpc>
                <a:spcPct val="130000"/>
              </a:lnSpc>
              <a:buNone/>
            </a:pPr>
            <a:r>
              <a:rPr lang="en-US" sz="1200" dirty="0">
                <a:solidFill>
                  <a:srgbClr val="1F2933"/>
                </a:solidFill>
                <a:latin typeface="Calibri" pitchFamily="34" charset="0"/>
                <a:ea typeface="Calibri" pitchFamily="34" charset="-122"/>
                <a:cs typeface="Calibri" pitchFamily="34" charset="-120"/>
              </a:rPr>
              <a:t>1. ClubElo (clubelo.com) — third-party, daily, since 2000.
2. Our own Elo, recomputed from football-data.co.uk results.
</a:t>
            </a:r>
            <a:pPr indent="0" marL="0">
              <a:lnSpc>
                <a:spcPct val="130000"/>
              </a:lnSpc>
              <a:buNone/>
            </a:pPr>
            <a:r>
              <a:rPr lang="en-US" sz="1200" b="1" dirty="0">
                <a:solidFill>
                  <a:srgbClr val="0B2545"/>
                </a:solidFill>
                <a:latin typeface="Calibri" pitchFamily="34" charset="0"/>
                <a:ea typeface="Calibri" pitchFamily="34" charset="-122"/>
                <a:cs typeface="Calibri" pitchFamily="34" charset="-120"/>
              </a:rPr>
              <a:t>Update rule (Elo / FIFA-Maher style):
</a:t>
            </a:r>
            <a:endParaRPr lang="en-US" sz="1200" dirty="0"/>
          </a:p>
        </p:txBody>
      </p:sp>
      <p:sp>
        <p:nvSpPr>
          <p:cNvPr id="9" name="Shape 7"/>
          <p:cNvSpPr/>
          <p:nvPr/>
        </p:nvSpPr>
        <p:spPr>
          <a:xfrm>
            <a:off x="457200" y="2834640"/>
            <a:ext cx="4206240" cy="141732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10" name="Shape 8"/>
          <p:cNvSpPr/>
          <p:nvPr/>
        </p:nvSpPr>
        <p:spPr>
          <a:xfrm>
            <a:off x="457200" y="2834640"/>
            <a:ext cx="54864" cy="1417320"/>
          </a:xfrm>
          <a:prstGeom prst="rect">
            <a:avLst/>
          </a:prstGeom>
          <a:solidFill>
            <a:srgbClr val="E07A5F"/>
          </a:solidFill>
          <a:ln/>
        </p:spPr>
      </p:sp>
      <p:sp>
        <p:nvSpPr>
          <p:cNvPr id="11" name="Text 9"/>
          <p:cNvSpPr/>
          <p:nvPr/>
        </p:nvSpPr>
        <p:spPr>
          <a:xfrm>
            <a:off x="621792" y="2926080"/>
            <a:ext cx="3977640" cy="274320"/>
          </a:xfrm>
          <a:prstGeom prst="rect">
            <a:avLst/>
          </a:prstGeom>
          <a:noFill/>
          <a:ln/>
        </p:spPr>
        <p:txBody>
          <a:bodyPr wrap="square" lIns="0" tIns="0" rIns="0" bIns="0" rtlCol="0" anchor="ctr"/>
          <a:lstStyle/>
          <a:p>
            <a:pPr indent="0" marL="0">
              <a:buNone/>
            </a:pPr>
            <a:r>
              <a:rPr lang="en-US" sz="1000" b="1" spc="300" kern="0" dirty="0">
                <a:solidFill>
                  <a:srgbClr val="13315C"/>
                </a:solidFill>
                <a:latin typeface="Calibri" pitchFamily="34" charset="0"/>
                <a:ea typeface="Calibri" pitchFamily="34" charset="-122"/>
                <a:cs typeface="Calibri" pitchFamily="34" charset="-120"/>
              </a:rPr>
              <a:t>Expected score &amp; rating update</a:t>
            </a:r>
            <a:endParaRPr lang="en-US" sz="1000" dirty="0"/>
          </a:p>
        </p:txBody>
      </p:sp>
      <p:sp>
        <p:nvSpPr>
          <p:cNvPr id="12" name="Text 10"/>
          <p:cNvSpPr/>
          <p:nvPr/>
        </p:nvSpPr>
        <p:spPr>
          <a:xfrm>
            <a:off x="621792" y="3246120"/>
            <a:ext cx="3977640" cy="914400"/>
          </a:xfrm>
          <a:prstGeom prst="rect">
            <a:avLst/>
          </a:prstGeom>
          <a:noFill/>
          <a:ln/>
        </p:spPr>
        <p:txBody>
          <a:bodyPr wrap="square" lIns="0" tIns="0" rIns="0" bIns="0" rtlCol="0" anchor="ctr"/>
          <a:lstStyle/>
          <a:p>
            <a:pPr algn="ctr" indent="0" marL="0">
              <a:lnSpc>
                <a:spcPct val="130000"/>
              </a:lnSpc>
              <a:buNone/>
            </a:pPr>
            <a:r>
              <a:rPr lang="en-US" sz="1200" i="1" dirty="0">
                <a:solidFill>
                  <a:srgbClr val="1F2933"/>
                </a:solidFill>
                <a:latin typeface="Georgia" pitchFamily="34" charset="0"/>
                <a:ea typeface="Georgia" pitchFamily="34" charset="-122"/>
                <a:cs typeface="Georgia" pitchFamily="34" charset="-120"/>
              </a:rPr>
              <a:t>E_h = 1 / (1 + 10^((R_a − R_h − HFA)/400))</a:t>
            </a:r>
            <a:endParaRPr lang="en-US" sz="1200" dirty="0"/>
          </a:p>
          <a:p>
            <a:pPr algn="ctr" indent="0" marL="0">
              <a:lnSpc>
                <a:spcPct val="130000"/>
              </a:lnSpc>
              <a:buNone/>
            </a:pPr>
            <a:endParaRPr lang="en-US" sz="1200" dirty="0"/>
          </a:p>
          <a:p>
            <a:pPr algn="ctr" indent="0" marL="0">
              <a:lnSpc>
                <a:spcPct val="130000"/>
              </a:lnSpc>
              <a:buNone/>
            </a:pPr>
            <a:r>
              <a:rPr lang="en-US" sz="1200" i="1" dirty="0">
                <a:solidFill>
                  <a:srgbClr val="1F2933"/>
                </a:solidFill>
                <a:latin typeface="Georgia" pitchFamily="34" charset="0"/>
                <a:ea typeface="Georgia" pitchFamily="34" charset="-122"/>
                <a:cs typeface="Georgia" pitchFamily="34" charset="-120"/>
              </a:rPr>
              <a:t>R_h ← R_h + K · (S_h − E_h)</a:t>
            </a:r>
            <a:endParaRPr lang="en-US" sz="1200" dirty="0"/>
          </a:p>
        </p:txBody>
      </p:sp>
      <p:sp>
        <p:nvSpPr>
          <p:cNvPr id="13" name="Text 11"/>
          <p:cNvSpPr/>
          <p:nvPr/>
        </p:nvSpPr>
        <p:spPr>
          <a:xfrm>
            <a:off x="457200" y="4343400"/>
            <a:ext cx="4206240" cy="274320"/>
          </a:xfrm>
          <a:prstGeom prst="rect">
            <a:avLst/>
          </a:prstGeom>
          <a:noFill/>
          <a:ln/>
        </p:spPr>
        <p:txBody>
          <a:bodyPr wrap="square" lIns="0" tIns="0" rIns="0" bIns="0" rtlCol="0" anchor="ctr"/>
          <a:lstStyle/>
          <a:p>
            <a:pPr indent="0" marL="0">
              <a:buNone/>
            </a:pPr>
            <a:r>
              <a:rPr lang="en-US" sz="1050" b="1" dirty="0">
                <a:solidFill>
                  <a:srgbClr val="000000"/>
                </a:solidFill>
                <a:latin typeface="Consolas" pitchFamily="34" charset="0"/>
                <a:ea typeface="Consolas" pitchFamily="34" charset="-122"/>
                <a:cs typeface="Consolas" pitchFamily="34" charset="-120"/>
              </a:rPr>
              <a:t>K = 20</a:t>
            </a:r>
            <a:pPr indent="0" marL="0">
              <a:buNone/>
            </a:pPr>
            <a:r>
              <a:rPr lang="en-US" sz="1050" dirty="0">
                <a:solidFill>
                  <a:srgbClr val="5A6573"/>
                </a:solidFill>
                <a:latin typeface="Calibri" pitchFamily="34" charset="0"/>
                <a:ea typeface="Calibri" pitchFamily="34" charset="-122"/>
                <a:cs typeface="Calibri" pitchFamily="34" charset="-120"/>
              </a:rPr>
              <a:t> (typical), </a:t>
            </a:r>
            <a:pPr indent="0" marL="0">
              <a:buNone/>
            </a:pPr>
            <a:r>
              <a:rPr lang="en-US" sz="1050" b="1" dirty="0">
                <a:solidFill>
                  <a:srgbClr val="000000"/>
                </a:solidFill>
                <a:latin typeface="Consolas" pitchFamily="34" charset="0"/>
                <a:ea typeface="Consolas" pitchFamily="34" charset="-122"/>
                <a:cs typeface="Consolas" pitchFamily="34" charset="-120"/>
              </a:rPr>
              <a:t>HFA = 65</a:t>
            </a:r>
            <a:pPr indent="0" marL="0">
              <a:buNone/>
            </a:pPr>
            <a:r>
              <a:rPr lang="en-US" sz="1050" dirty="0">
                <a:solidFill>
                  <a:srgbClr val="5A6573"/>
                </a:solidFill>
                <a:latin typeface="Calibri" pitchFamily="34" charset="0"/>
                <a:ea typeface="Calibri" pitchFamily="34" charset="-122"/>
                <a:cs typeface="Calibri" pitchFamily="34" charset="-120"/>
              </a:rPr>
              <a:t> home-advantage points (pre-Covid).</a:t>
            </a:r>
            <a:endParaRPr lang="en-US" sz="1050" dirty="0"/>
          </a:p>
        </p:txBody>
      </p:sp>
      <p:sp>
        <p:nvSpPr>
          <p:cNvPr id="14" name="Shape 12"/>
          <p:cNvSpPr/>
          <p:nvPr/>
        </p:nvSpPr>
        <p:spPr>
          <a:xfrm>
            <a:off x="4937760" y="1325880"/>
            <a:ext cx="3749040" cy="329184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15" name="Shape 13"/>
          <p:cNvSpPr/>
          <p:nvPr/>
        </p:nvSpPr>
        <p:spPr>
          <a:xfrm>
            <a:off x="4937760" y="1325880"/>
            <a:ext cx="54864" cy="3291840"/>
          </a:xfrm>
          <a:prstGeom prst="rect">
            <a:avLst/>
          </a:prstGeom>
          <a:solidFill>
            <a:srgbClr val="13315C"/>
          </a:solidFill>
          <a:ln/>
        </p:spPr>
      </p:sp>
      <p:sp>
        <p:nvSpPr>
          <p:cNvPr id="16" name="Text 14"/>
          <p:cNvSpPr/>
          <p:nvPr/>
        </p:nvSpPr>
        <p:spPr>
          <a:xfrm>
            <a:off x="5074920" y="1417320"/>
            <a:ext cx="3611880" cy="256032"/>
          </a:xfrm>
          <a:prstGeom prst="rect">
            <a:avLst/>
          </a:prstGeom>
          <a:noFill/>
          <a:ln/>
        </p:spPr>
        <p:txBody>
          <a:bodyPr wrap="square" lIns="0" tIns="0" rIns="0" bIns="0" rtlCol="0" anchor="ctr"/>
          <a:lstStyle/>
          <a:p>
            <a:pPr indent="0" marL="0">
              <a:buNone/>
            </a:pPr>
            <a:r>
              <a:rPr lang="en-US" sz="1000" b="1" spc="300" kern="0" dirty="0">
                <a:solidFill>
                  <a:srgbClr val="13315C"/>
                </a:solidFill>
                <a:latin typeface="Calibri" pitchFamily="34" charset="0"/>
                <a:ea typeface="Calibri" pitchFamily="34" charset="-122"/>
                <a:cs typeface="Calibri" pitchFamily="34" charset="-120"/>
              </a:rPr>
              <a:t>WORKED EXAMPLE</a:t>
            </a:r>
            <a:endParaRPr lang="en-US" sz="1000" dirty="0"/>
          </a:p>
        </p:txBody>
      </p:sp>
      <p:sp>
        <p:nvSpPr>
          <p:cNvPr id="17" name="Text 15"/>
          <p:cNvSpPr/>
          <p:nvPr/>
        </p:nvSpPr>
        <p:spPr>
          <a:xfrm>
            <a:off x="5074920" y="1691640"/>
            <a:ext cx="3611880" cy="274320"/>
          </a:xfrm>
          <a:prstGeom prst="rect">
            <a:avLst/>
          </a:prstGeom>
          <a:noFill/>
          <a:ln/>
        </p:spPr>
        <p:txBody>
          <a:bodyPr wrap="square" lIns="0" tIns="0" rIns="0" bIns="0" rtlCol="0" anchor="ctr"/>
          <a:lstStyle/>
          <a:p>
            <a:pPr indent="0" marL="0">
              <a:buNone/>
            </a:pPr>
            <a:r>
              <a:rPr lang="en-US" sz="1400" b="1" dirty="0">
                <a:solidFill>
                  <a:srgbClr val="0B2545"/>
                </a:solidFill>
                <a:latin typeface="Georgia" pitchFamily="34" charset="0"/>
                <a:ea typeface="Georgia" pitchFamily="34" charset="-122"/>
                <a:cs typeface="Georgia" pitchFamily="34" charset="-120"/>
              </a:rPr>
              <a:t>Liverpool </a:t>
            </a:r>
            <a:pPr indent="0" marL="0">
              <a:buNone/>
            </a:pPr>
            <a:r>
              <a:rPr lang="en-US" sz="1400" b="1" dirty="0">
                <a:solidFill>
                  <a:srgbClr val="E07A5F"/>
                </a:solidFill>
                <a:latin typeface="Georgia" pitchFamily="34" charset="0"/>
                <a:ea typeface="Georgia" pitchFamily="34" charset="-122"/>
                <a:cs typeface="Georgia" pitchFamily="34" charset="-120"/>
              </a:rPr>
              <a:t>1 − 1 </a:t>
            </a:r>
            <a:pPr indent="0" marL="0">
              <a:buNone/>
            </a:pPr>
            <a:r>
              <a:rPr lang="en-US" sz="1400" b="1" dirty="0">
                <a:solidFill>
                  <a:srgbClr val="0B2545"/>
                </a:solidFill>
                <a:latin typeface="Georgia" pitchFamily="34" charset="0"/>
                <a:ea typeface="Georgia" pitchFamily="34" charset="-122"/>
                <a:cs typeface="Georgia" pitchFamily="34" charset="-120"/>
              </a:rPr>
              <a:t>Tottenham</a:t>
            </a:r>
            <a:endParaRPr lang="en-US" sz="1400" dirty="0"/>
          </a:p>
        </p:txBody>
      </p:sp>
      <p:sp>
        <p:nvSpPr>
          <p:cNvPr id="18" name="Text 16"/>
          <p:cNvSpPr/>
          <p:nvPr/>
        </p:nvSpPr>
        <p:spPr>
          <a:xfrm>
            <a:off x="5074920" y="2011680"/>
            <a:ext cx="3611880" cy="2560320"/>
          </a:xfrm>
          <a:prstGeom prst="rect">
            <a:avLst/>
          </a:prstGeom>
          <a:noFill/>
          <a:ln/>
        </p:spPr>
        <p:txBody>
          <a:bodyPr wrap="square" lIns="0" tIns="0" rIns="0" bIns="0" rtlCol="0" anchor="ctr"/>
          <a:lstStyle/>
          <a:p>
            <a:pPr indent="0" marL="0">
              <a:lnSpc>
                <a:spcPct val="130000"/>
              </a:lnSpc>
              <a:buNone/>
            </a:pPr>
            <a:r>
              <a:rPr lang="en-US" sz="1000" dirty="0">
                <a:solidFill>
                  <a:srgbClr val="5A6573"/>
                </a:solidFill>
                <a:latin typeface="Consolas" pitchFamily="34" charset="0"/>
                <a:ea typeface="Consolas" pitchFamily="34" charset="-122"/>
                <a:cs typeface="Consolas" pitchFamily="34" charset="-120"/>
              </a:rPr>
              <a:t>Pre-match:    </a:t>
            </a:r>
            <a:pPr indent="0" marL="0">
              <a:lnSpc>
                <a:spcPct val="130000"/>
              </a:lnSpc>
              <a:buNone/>
            </a:pPr>
            <a:r>
              <a:rPr lang="en-US" sz="1000" dirty="0">
                <a:solidFill>
                  <a:srgbClr val="1F2933"/>
                </a:solidFill>
                <a:latin typeface="Consolas" pitchFamily="34" charset="0"/>
                <a:ea typeface="Consolas" pitchFamily="34" charset="-122"/>
                <a:cs typeface="Consolas" pitchFamily="34" charset="-120"/>
              </a:rPr>
              <a:t>R_h = 1920   R_a = 1820
</a:t>
            </a:r>
            <a:pPr indent="0" marL="0">
              <a:lnSpc>
                <a:spcPct val="130000"/>
              </a:lnSpc>
              <a:buNone/>
            </a:pPr>
            <a:r>
              <a:rPr lang="en-US" sz="1000" dirty="0">
                <a:solidFill>
                  <a:srgbClr val="5A6573"/>
                </a:solidFill>
                <a:latin typeface="Consolas" pitchFamily="34" charset="0"/>
                <a:ea typeface="Consolas" pitchFamily="34" charset="-122"/>
                <a:cs typeface="Consolas" pitchFamily="34" charset="-120"/>
              </a:rPr>
              <a:t>HFA-adj diff: </a:t>
            </a:r>
            <a:pPr indent="0" marL="0">
              <a:lnSpc>
                <a:spcPct val="130000"/>
              </a:lnSpc>
              <a:buNone/>
            </a:pPr>
            <a:r>
              <a:rPr lang="en-US" sz="1000" dirty="0">
                <a:solidFill>
                  <a:srgbClr val="1F2933"/>
                </a:solidFill>
                <a:latin typeface="Consolas" pitchFamily="34" charset="0"/>
                <a:ea typeface="Consolas" pitchFamily="34" charset="-122"/>
                <a:cs typeface="Consolas" pitchFamily="34" charset="-120"/>
              </a:rPr>
              <a:t>(1820 − 1920 − 65) / 400 = −0.4125
</a:t>
            </a:r>
            <a:pPr indent="0" marL="0">
              <a:lnSpc>
                <a:spcPct val="130000"/>
              </a:lnSpc>
              <a:buNone/>
            </a:pPr>
            <a:r>
              <a:rPr lang="en-US" sz="1000" dirty="0">
                <a:solidFill>
                  <a:srgbClr val="5A6573"/>
                </a:solidFill>
                <a:latin typeface="Consolas" pitchFamily="34" charset="0"/>
                <a:ea typeface="Consolas" pitchFamily="34" charset="-122"/>
                <a:cs typeface="Consolas" pitchFamily="34" charset="-120"/>
              </a:rPr>
              <a:t>E_h = 1 / (1 + 10^−0.4125) = </a:t>
            </a:r>
            <a:pPr indent="0" marL="0">
              <a:lnSpc>
                <a:spcPct val="130000"/>
              </a:lnSpc>
              <a:buNone/>
            </a:pPr>
            <a:r>
              <a:rPr lang="en-US" sz="1000" b="1" dirty="0">
                <a:solidFill>
                  <a:srgbClr val="13315C"/>
                </a:solidFill>
                <a:latin typeface="Consolas" pitchFamily="34" charset="0"/>
                <a:ea typeface="Consolas" pitchFamily="34" charset="-122"/>
                <a:cs typeface="Consolas" pitchFamily="34" charset="-120"/>
              </a:rPr>
              <a:t>0.721
</a:t>
            </a:r>
            <a:pPr indent="0" marL="0">
              <a:lnSpc>
                <a:spcPct val="130000"/>
              </a:lnSpc>
              <a:buNone/>
            </a:pPr>
            <a:r>
              <a:rPr lang="en-US" sz="1000" dirty="0">
                <a:solidFill>
                  <a:srgbClr val="1F2933"/>
                </a:solidFill>
                <a:latin typeface="Consolas" pitchFamily="34" charset="0"/>
                <a:ea typeface="Consolas" pitchFamily="34" charset="-122"/>
                <a:cs typeface="Consolas" pitchFamily="34" charset="-120"/>
              </a:rPr>
              <a:t>S_h = 0.5  (a draw)
</a:t>
            </a:r>
            <a:pPr indent="0" marL="0">
              <a:lnSpc>
                <a:spcPct val="130000"/>
              </a:lnSpc>
              <a:buNone/>
            </a:pPr>
            <a:r>
              <a:rPr lang="en-US" sz="1000" dirty="0">
                <a:solidFill>
                  <a:srgbClr val="5A6573"/>
                </a:solidFill>
                <a:latin typeface="Consolas" pitchFamily="34" charset="0"/>
                <a:ea typeface="Consolas" pitchFamily="34" charset="-122"/>
                <a:cs typeface="Consolas" pitchFamily="34" charset="-120"/>
              </a:rPr>
              <a:t>Update:       </a:t>
            </a:r>
            <a:pPr indent="0" marL="0">
              <a:lnSpc>
                <a:spcPct val="130000"/>
              </a:lnSpc>
              <a:buNone/>
            </a:pPr>
            <a:r>
              <a:rPr lang="en-US" sz="1000" dirty="0">
                <a:solidFill>
                  <a:srgbClr val="1F2933"/>
                </a:solidFill>
                <a:latin typeface="Consolas" pitchFamily="34" charset="0"/>
                <a:ea typeface="Consolas" pitchFamily="34" charset="-122"/>
                <a:cs typeface="Consolas" pitchFamily="34" charset="-120"/>
              </a:rPr>
              <a:t>R_h ← 1920 + 20·(0.5 − 0.721)
</a:t>
            </a:r>
            <a:pPr indent="0" marL="0">
              <a:lnSpc>
                <a:spcPct val="130000"/>
              </a:lnSpc>
              <a:buNone/>
            </a:pPr>
            <a:r>
              <a:rPr lang="en-US" sz="1000" dirty="0">
                <a:solidFill>
                  <a:srgbClr val="5A6573"/>
                </a:solidFill>
                <a:latin typeface="Consolas" pitchFamily="34" charset="0"/>
                <a:ea typeface="Consolas" pitchFamily="34" charset="-122"/>
                <a:cs typeface="Consolas" pitchFamily="34" charset="-120"/>
              </a:rPr>
              <a:t>             = </a:t>
            </a:r>
            <a:pPr indent="0" marL="0">
              <a:lnSpc>
                <a:spcPct val="130000"/>
              </a:lnSpc>
              <a:buNone/>
            </a:pPr>
            <a:r>
              <a:rPr lang="en-US" sz="1000" b="1" dirty="0">
                <a:solidFill>
                  <a:srgbClr val="E07A5F"/>
                </a:solidFill>
                <a:latin typeface="Consolas" pitchFamily="34" charset="0"/>
                <a:ea typeface="Consolas" pitchFamily="34" charset="-122"/>
                <a:cs typeface="Consolas" pitchFamily="34" charset="-120"/>
              </a:rPr>
              <a:t>1915.6  (drops 4.4)
</a:t>
            </a:r>
            <a:pPr indent="0" marL="0">
              <a:lnSpc>
                <a:spcPct val="130000"/>
              </a:lnSpc>
              <a:buNone/>
            </a:pPr>
            <a:r>
              <a:rPr lang="en-US" sz="1000" dirty="0">
                <a:solidFill>
                  <a:srgbClr val="5A6573"/>
                </a:solidFill>
                <a:latin typeface="Consolas" pitchFamily="34" charset="0"/>
                <a:ea typeface="Consolas" pitchFamily="34" charset="-122"/>
                <a:cs typeface="Consolas" pitchFamily="34" charset="-120"/>
              </a:rPr>
              <a:t>             </a:t>
            </a:r>
            <a:pPr indent="0" marL="0">
              <a:lnSpc>
                <a:spcPct val="130000"/>
              </a:lnSpc>
              <a:buNone/>
            </a:pPr>
            <a:r>
              <a:rPr lang="en-US" sz="1000" b="1" dirty="0">
                <a:solidFill>
                  <a:srgbClr val="13315C"/>
                </a:solidFill>
                <a:latin typeface="Consolas" pitchFamily="34" charset="0"/>
                <a:ea typeface="Consolas" pitchFamily="34" charset="-122"/>
                <a:cs typeface="Consolas" pitchFamily="34" charset="-120"/>
              </a:rPr>
              <a:t>R_a ← 1820 + 4.4 = 1824.4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Knowhow Appendix   ·   Liang · Chen · Collaborator</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A7 / A12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A7  ·  MARKET &amp; BETTING</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0B2545"/>
                </a:solidFill>
                <a:latin typeface="Georgia" pitchFamily="34" charset="0"/>
                <a:ea typeface="Georgia" pitchFamily="34" charset="-122"/>
                <a:cs typeface="Georgia" pitchFamily="34" charset="-120"/>
              </a:rPr>
              <a:t>Vig removal and Kelly-fractional sizing</a:t>
            </a:r>
            <a:endParaRPr lang="en-US" sz="2600" dirty="0"/>
          </a:p>
        </p:txBody>
      </p:sp>
      <p:sp>
        <p:nvSpPr>
          <p:cNvPr id="8" name="Shape 6"/>
          <p:cNvSpPr/>
          <p:nvPr/>
        </p:nvSpPr>
        <p:spPr>
          <a:xfrm>
            <a:off x="457200" y="1325880"/>
            <a:ext cx="4160520" cy="141732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57200" y="1325880"/>
            <a:ext cx="54864" cy="1417320"/>
          </a:xfrm>
          <a:prstGeom prst="rect">
            <a:avLst/>
          </a:prstGeom>
          <a:solidFill>
            <a:srgbClr val="E07A5F"/>
          </a:solidFill>
          <a:ln/>
        </p:spPr>
      </p:sp>
      <p:sp>
        <p:nvSpPr>
          <p:cNvPr id="10" name="Text 8"/>
          <p:cNvSpPr/>
          <p:nvPr/>
        </p:nvSpPr>
        <p:spPr>
          <a:xfrm>
            <a:off x="621792" y="1417320"/>
            <a:ext cx="3931920" cy="274320"/>
          </a:xfrm>
          <a:prstGeom prst="rect">
            <a:avLst/>
          </a:prstGeom>
          <a:noFill/>
          <a:ln/>
        </p:spPr>
        <p:txBody>
          <a:bodyPr wrap="square" lIns="0" tIns="0" rIns="0" bIns="0" rtlCol="0" anchor="ctr"/>
          <a:lstStyle/>
          <a:p>
            <a:pPr indent="0" marL="0">
              <a:buNone/>
            </a:pPr>
            <a:r>
              <a:rPr lang="en-US" sz="1000" b="1" spc="300" kern="0" dirty="0">
                <a:solidFill>
                  <a:srgbClr val="13315C"/>
                </a:solidFill>
                <a:latin typeface="Calibri" pitchFamily="34" charset="0"/>
                <a:ea typeface="Calibri" pitchFamily="34" charset="-122"/>
                <a:cs typeface="Calibri" pitchFamily="34" charset="-120"/>
              </a:rPr>
              <a:t>Vig removal — Pinnacle close</a:t>
            </a:r>
            <a:endParaRPr lang="en-US" sz="1000" dirty="0"/>
          </a:p>
        </p:txBody>
      </p:sp>
      <p:sp>
        <p:nvSpPr>
          <p:cNvPr id="11" name="Text 9"/>
          <p:cNvSpPr/>
          <p:nvPr/>
        </p:nvSpPr>
        <p:spPr>
          <a:xfrm>
            <a:off x="621792" y="1737360"/>
            <a:ext cx="3931920" cy="914400"/>
          </a:xfrm>
          <a:prstGeom prst="rect">
            <a:avLst/>
          </a:prstGeom>
          <a:noFill/>
          <a:ln/>
        </p:spPr>
        <p:txBody>
          <a:bodyPr wrap="square" lIns="0" tIns="0" rIns="0" bIns="0" rtlCol="0" anchor="ctr"/>
          <a:lstStyle/>
          <a:p>
            <a:pPr algn="l" indent="0" marL="0">
              <a:lnSpc>
                <a:spcPct val="130000"/>
              </a:lnSpc>
              <a:buNone/>
            </a:pPr>
            <a:r>
              <a:rPr lang="en-US" sz="1200" i="1" dirty="0">
                <a:solidFill>
                  <a:srgbClr val="1F2933"/>
                </a:solidFill>
                <a:latin typeface="Georgia" pitchFamily="34" charset="0"/>
                <a:ea typeface="Georgia" pitchFamily="34" charset="-122"/>
                <a:cs typeface="Georgia" pitchFamily="34" charset="-120"/>
              </a:rPr>
              <a:t>p_raw,c  =  1 / odds_c</a:t>
            </a:r>
            <a:endParaRPr lang="en-US" sz="1200" dirty="0"/>
          </a:p>
          <a:p>
            <a:pPr algn="l" indent="0" marL="0">
              <a:lnSpc>
                <a:spcPct val="130000"/>
              </a:lnSpc>
              <a:buNone/>
            </a:pPr>
            <a:r>
              <a:rPr lang="en-US" sz="1200" i="1" dirty="0">
                <a:solidFill>
                  <a:srgbClr val="1F2933"/>
                </a:solidFill>
                <a:latin typeface="Georgia" pitchFamily="34" charset="0"/>
                <a:ea typeface="Georgia" pitchFamily="34" charset="-122"/>
                <a:cs typeface="Georgia" pitchFamily="34" charset="-120"/>
              </a:rPr>
              <a:t>overround  =  Σ_c  p_raw,c   (≈ 1.05)</a:t>
            </a:r>
            <a:endParaRPr lang="en-US" sz="1200" dirty="0"/>
          </a:p>
          <a:p>
            <a:pPr algn="l" indent="0" marL="0">
              <a:lnSpc>
                <a:spcPct val="130000"/>
              </a:lnSpc>
              <a:buNone/>
            </a:pPr>
            <a:r>
              <a:rPr lang="en-US" sz="1200" i="1" dirty="0">
                <a:solidFill>
                  <a:srgbClr val="1F2933"/>
                </a:solidFill>
                <a:latin typeface="Georgia" pitchFamily="34" charset="0"/>
                <a:ea typeface="Georgia" pitchFamily="34" charset="-122"/>
                <a:cs typeface="Georgia" pitchFamily="34" charset="-120"/>
              </a:rPr>
              <a:t>p_novig,c  =  p_raw,c  /  overround</a:t>
            </a:r>
            <a:endParaRPr lang="en-US" sz="1200" dirty="0"/>
          </a:p>
        </p:txBody>
      </p:sp>
      <p:sp>
        <p:nvSpPr>
          <p:cNvPr id="12" name="Text 10"/>
          <p:cNvSpPr/>
          <p:nvPr/>
        </p:nvSpPr>
        <p:spPr>
          <a:xfrm>
            <a:off x="457200" y="2834640"/>
            <a:ext cx="4160520" cy="1325880"/>
          </a:xfrm>
          <a:prstGeom prst="rect">
            <a:avLst/>
          </a:prstGeom>
          <a:noFill/>
          <a:ln/>
        </p:spPr>
        <p:txBody>
          <a:bodyPr wrap="square" lIns="0" tIns="0" rIns="0" bIns="0" rtlCol="0" anchor="ctr"/>
          <a:lstStyle/>
          <a:p>
            <a:pPr indent="0" marL="0">
              <a:lnSpc>
                <a:spcPct val="130000"/>
              </a:lnSpc>
              <a:buNone/>
            </a:pPr>
            <a:r>
              <a:rPr lang="en-US" sz="1150" b="1" dirty="0">
                <a:solidFill>
                  <a:srgbClr val="0B2545"/>
                </a:solidFill>
                <a:latin typeface="Calibri" pitchFamily="34" charset="0"/>
                <a:ea typeface="Calibri" pitchFamily="34" charset="-122"/>
                <a:cs typeface="Calibri" pitchFamily="34" charset="-120"/>
              </a:rPr>
              <a:t>Pinnacle's overround is ~5%.
</a:t>
            </a:r>
            <a:pPr indent="0" marL="0">
              <a:lnSpc>
                <a:spcPct val="130000"/>
              </a:lnSpc>
              <a:buNone/>
            </a:pPr>
            <a:r>
              <a:rPr lang="en-US" sz="1150" dirty="0">
                <a:solidFill>
                  <a:srgbClr val="1F2933"/>
                </a:solidFill>
                <a:latin typeface="Calibri" pitchFamily="34" charset="0"/>
                <a:ea typeface="Calibri" pitchFamily="34" charset="-122"/>
                <a:cs typeface="Calibri" pitchFamily="34" charset="-120"/>
              </a:rPr>
              <a:t>Renormalising p_H + p_D + p_A → 1 strips the bookmaker margin and gives a usable probability estimate. Pinnacle is the closest-to-fair book; other books need their bigger overround removed before comparison.</a:t>
            </a:r>
            <a:endParaRPr lang="en-US" sz="1150" dirty="0"/>
          </a:p>
        </p:txBody>
      </p:sp>
      <p:sp>
        <p:nvSpPr>
          <p:cNvPr id="13" name="Shape 11"/>
          <p:cNvSpPr/>
          <p:nvPr/>
        </p:nvSpPr>
        <p:spPr>
          <a:xfrm>
            <a:off x="4754880" y="1325880"/>
            <a:ext cx="3931920" cy="141732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4754880" y="1325880"/>
            <a:ext cx="54864" cy="1417320"/>
          </a:xfrm>
          <a:prstGeom prst="rect">
            <a:avLst/>
          </a:prstGeom>
          <a:solidFill>
            <a:srgbClr val="E07A5F"/>
          </a:solidFill>
          <a:ln/>
        </p:spPr>
      </p:sp>
      <p:sp>
        <p:nvSpPr>
          <p:cNvPr id="15" name="Text 13"/>
          <p:cNvSpPr/>
          <p:nvPr/>
        </p:nvSpPr>
        <p:spPr>
          <a:xfrm>
            <a:off x="4919472" y="1417320"/>
            <a:ext cx="3703320" cy="274320"/>
          </a:xfrm>
          <a:prstGeom prst="rect">
            <a:avLst/>
          </a:prstGeom>
          <a:noFill/>
          <a:ln/>
        </p:spPr>
        <p:txBody>
          <a:bodyPr wrap="square" lIns="0" tIns="0" rIns="0" bIns="0" rtlCol="0" anchor="ctr"/>
          <a:lstStyle/>
          <a:p>
            <a:pPr indent="0" marL="0">
              <a:buNone/>
            </a:pPr>
            <a:r>
              <a:rPr lang="en-US" sz="1000" b="1" spc="300" kern="0" dirty="0">
                <a:solidFill>
                  <a:srgbClr val="13315C"/>
                </a:solidFill>
                <a:latin typeface="Calibri" pitchFamily="34" charset="0"/>
                <a:ea typeface="Calibri" pitchFamily="34" charset="-122"/>
                <a:cs typeface="Calibri" pitchFamily="34" charset="-120"/>
              </a:rPr>
              <a:t>Kelly — fraction of bankroll to stake</a:t>
            </a:r>
            <a:endParaRPr lang="en-US" sz="1000" dirty="0"/>
          </a:p>
        </p:txBody>
      </p:sp>
      <p:sp>
        <p:nvSpPr>
          <p:cNvPr id="16" name="Text 14"/>
          <p:cNvSpPr/>
          <p:nvPr/>
        </p:nvSpPr>
        <p:spPr>
          <a:xfrm>
            <a:off x="4919472" y="1737360"/>
            <a:ext cx="3703320" cy="914400"/>
          </a:xfrm>
          <a:prstGeom prst="rect">
            <a:avLst/>
          </a:prstGeom>
          <a:noFill/>
          <a:ln/>
        </p:spPr>
        <p:txBody>
          <a:bodyPr wrap="square" lIns="0" tIns="0" rIns="0" bIns="0" rtlCol="0" anchor="ctr"/>
          <a:lstStyle/>
          <a:p>
            <a:pPr algn="l" indent="0" marL="0">
              <a:lnSpc>
                <a:spcPct val="130000"/>
              </a:lnSpc>
              <a:buNone/>
            </a:pPr>
            <a:r>
              <a:rPr lang="en-US" sz="1200" i="1" dirty="0">
                <a:solidFill>
                  <a:srgbClr val="1F2933"/>
                </a:solidFill>
                <a:latin typeface="Georgia" pitchFamily="34" charset="0"/>
                <a:ea typeface="Georgia" pitchFamily="34" charset="-122"/>
                <a:cs typeface="Georgia" pitchFamily="34" charset="-120"/>
              </a:rPr>
              <a:t>f*  =  (b · p − q) / b</a:t>
            </a:r>
            <a:endParaRPr lang="en-US" sz="1200" dirty="0"/>
          </a:p>
          <a:p>
            <a:pPr algn="l" indent="0" marL="0">
              <a:lnSpc>
                <a:spcPct val="130000"/>
              </a:lnSpc>
              <a:buNone/>
            </a:pPr>
            <a:r>
              <a:rPr lang="en-US" sz="1200" i="1" dirty="0">
                <a:solidFill>
                  <a:srgbClr val="1F2933"/>
                </a:solidFill>
                <a:latin typeface="Georgia" pitchFamily="34" charset="0"/>
                <a:ea typeface="Georgia" pitchFamily="34" charset="-122"/>
                <a:cs typeface="Georgia" pitchFamily="34" charset="-120"/>
              </a:rPr>
              <a:t>where  b = decimal_odds − 1,  q = 1 − p</a:t>
            </a:r>
            <a:endParaRPr lang="en-US" sz="1200" dirty="0"/>
          </a:p>
        </p:txBody>
      </p:sp>
      <p:sp>
        <p:nvSpPr>
          <p:cNvPr id="17" name="Text 15"/>
          <p:cNvSpPr/>
          <p:nvPr/>
        </p:nvSpPr>
        <p:spPr>
          <a:xfrm>
            <a:off x="4754880" y="2834640"/>
            <a:ext cx="3931920" cy="1783080"/>
          </a:xfrm>
          <a:prstGeom prst="rect">
            <a:avLst/>
          </a:prstGeom>
          <a:noFill/>
          <a:ln/>
        </p:spPr>
        <p:txBody>
          <a:bodyPr wrap="square" lIns="0" tIns="0" rIns="0" bIns="0" rtlCol="0" anchor="ctr"/>
          <a:lstStyle/>
          <a:p>
            <a:pPr indent="0" marL="0">
              <a:lnSpc>
                <a:spcPct val="130000"/>
              </a:lnSpc>
              <a:buNone/>
            </a:pPr>
            <a:r>
              <a:rPr lang="en-US" sz="1150" b="1" dirty="0">
                <a:solidFill>
                  <a:srgbClr val="0B2545"/>
                </a:solidFill>
                <a:latin typeface="Calibri" pitchFamily="34" charset="0"/>
                <a:ea typeface="Calibri" pitchFamily="34" charset="-122"/>
                <a:cs typeface="Calibri" pitchFamily="34" charset="-120"/>
              </a:rPr>
              <a:t>f* maximises expected log-bankroll.
</a:t>
            </a:r>
            <a:pPr indent="0" marL="0">
              <a:lnSpc>
                <a:spcPct val="130000"/>
              </a:lnSpc>
              <a:buNone/>
            </a:pPr>
            <a:r>
              <a:rPr lang="en-US" sz="1150" dirty="0">
                <a:solidFill>
                  <a:srgbClr val="1F2933"/>
                </a:solidFill>
                <a:latin typeface="Calibri" pitchFamily="34" charset="0"/>
                <a:ea typeface="Calibri" pitchFamily="34" charset="-122"/>
                <a:cs typeface="Calibri" pitchFamily="34" charset="-120"/>
              </a:rPr>
              <a:t>We cap f* at 5% of bankroll per bet ("fractional Kelly"). Full Kelly's variance is brutal — the cap halves drawdown for ~80% of expected growth.
</a:t>
            </a:r>
            <a:pPr indent="0" marL="0">
              <a:lnSpc>
                <a:spcPct val="130000"/>
              </a:lnSpc>
              <a:buNone/>
            </a:pPr>
            <a:r>
              <a:rPr lang="en-US" sz="1150" b="1" dirty="0">
                <a:solidFill>
                  <a:srgbClr val="E07A5F"/>
                </a:solidFill>
                <a:latin typeface="Consolas" pitchFamily="34" charset="0"/>
                <a:ea typeface="Consolas" pitchFamily="34" charset="-122"/>
                <a:cs typeface="Consolas" pitchFamily="34" charset="-120"/>
              </a:rPr>
              <a:t>Place only when edge = p · odds − 1 &gt; 0.
</a:t>
            </a:r>
            <a:pPr indent="0" marL="0">
              <a:lnSpc>
                <a:spcPct val="130000"/>
              </a:lnSpc>
              <a:buNone/>
            </a:pPr>
            <a:r>
              <a:rPr lang="en-US" sz="1150" i="1" dirty="0">
                <a:solidFill>
                  <a:srgbClr val="5A6573"/>
                </a:solidFill>
                <a:latin typeface="Calibri" pitchFamily="34" charset="0"/>
                <a:ea typeface="Calibri" pitchFamily="34" charset="-122"/>
                <a:cs typeface="Calibri" pitchFamily="34" charset="-120"/>
              </a:rPr>
              <a:t>Size by the formula above; track bankroll trajectory.</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Knowhow Appendix   ·   Liang · Chen · Collaborator</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A8 / A12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A8  ·  NLP PIPELINE</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0B2545"/>
                </a:solidFill>
                <a:latin typeface="Georgia" pitchFamily="34" charset="0"/>
                <a:ea typeface="Georgia" pitchFamily="34" charset="-122"/>
                <a:cs typeface="Georgia" pitchFamily="34" charset="-120"/>
              </a:rPr>
              <a:t>spaCy + VADER per-team sentence attribution</a:t>
            </a:r>
            <a:endParaRPr lang="en-US" sz="2600" dirty="0"/>
          </a:p>
        </p:txBody>
      </p:sp>
      <p:sp>
        <p:nvSpPr>
          <p:cNvPr id="8" name="Text 6"/>
          <p:cNvSpPr/>
          <p:nvPr/>
        </p:nvSpPr>
        <p:spPr>
          <a:xfrm>
            <a:off x="457200" y="1325880"/>
            <a:ext cx="4572000" cy="3246120"/>
          </a:xfrm>
          <a:prstGeom prst="rect">
            <a:avLst/>
          </a:prstGeom>
          <a:noFill/>
          <a:ln/>
        </p:spPr>
        <p:txBody>
          <a:bodyPr wrap="square" lIns="0" tIns="0" rIns="0" bIns="0" rtlCol="0" anchor="ctr"/>
          <a:lstStyle/>
          <a:p>
            <a:pPr indent="0" marL="0">
              <a:lnSpc>
                <a:spcPct val="130000"/>
              </a:lnSpc>
              <a:buNone/>
            </a:pPr>
            <a:r>
              <a:rPr lang="en-US" sz="1100" b="1" dirty="0">
                <a:solidFill>
                  <a:srgbClr val="0B2545"/>
                </a:solidFill>
                <a:latin typeface="Calibri" pitchFamily="34" charset="0"/>
                <a:ea typeface="Calibri" pitchFamily="34" charset="-122"/>
                <a:cs typeface="Calibri" pitchFamily="34" charset="-120"/>
              </a:rPr>
              <a:t>Algorithm sketch.
</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1.  Strip BBC/Guardian boilerplate via BeautifulSoup; concat &lt;article&gt; text.
</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2.  Sentence-split on the standard regex </a:t>
            </a:r>
            <a:pPr indent="0" marL="0">
              <a:lnSpc>
                <a:spcPct val="130000"/>
              </a:lnSpc>
              <a:buNone/>
            </a:pPr>
            <a:r>
              <a:rPr lang="en-US" sz="1000" dirty="0">
                <a:solidFill>
                  <a:srgbClr val="13315C"/>
                </a:solidFill>
                <a:latin typeface="Consolas" pitchFamily="34" charset="0"/>
                <a:ea typeface="Consolas" pitchFamily="34" charset="-122"/>
                <a:cs typeface="Consolas" pitchFamily="34" charset="-120"/>
              </a:rPr>
              <a:t>(?&lt;=[.!?])\s+</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
</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3.  For each sentence, attribute to the team whose canonical name appears uniquely in that sentence (skip mixed-mention sentences).
</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4.  Score each per-team sentence with VADER; aggregate by mean.
</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5.  Run spaCy en_core_web_sm NER once on the full doc; count PERSON entities.
</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6.  Apply regex keyword classifier (red card / penalty / VAR / injury / controversy).
</a:t>
            </a:r>
            <a:pPr indent="0" marL="0">
              <a:lnSpc>
                <a:spcPct val="130000"/>
              </a:lnSpc>
              <a:buNone/>
            </a:pPr>
            <a:r>
              <a:rPr lang="en-US" sz="1100" i="1" dirty="0">
                <a:solidFill>
                  <a:srgbClr val="5A6573"/>
                </a:solidFill>
                <a:latin typeface="Calibri" pitchFamily="34" charset="0"/>
                <a:ea typeface="Calibri" pitchFamily="34" charset="-122"/>
                <a:cs typeface="Calibri" pitchFamily="34" charset="-120"/>
              </a:rPr>
              <a:t>Output ~12 derived columns per match.</a:t>
            </a:r>
            <a:endParaRPr lang="en-US" sz="1100" dirty="0"/>
          </a:p>
        </p:txBody>
      </p:sp>
      <p:sp>
        <p:nvSpPr>
          <p:cNvPr id="9" name="Shape 7"/>
          <p:cNvSpPr/>
          <p:nvPr/>
        </p:nvSpPr>
        <p:spPr>
          <a:xfrm>
            <a:off x="5212080" y="1325880"/>
            <a:ext cx="3474720" cy="3291840"/>
          </a:xfrm>
          <a:prstGeom prst="rect">
            <a:avLst/>
          </a:prstGeom>
          <a:solidFill>
            <a:srgbClr val="EEF2F6"/>
          </a:solidFill>
          <a:ln w="6350">
            <a:solidFill>
              <a:srgbClr val="D7DEE5"/>
            </a:solidFill>
            <a:prstDash val="solid"/>
          </a:ln>
        </p:spPr>
      </p:sp>
      <p:sp>
        <p:nvSpPr>
          <p:cNvPr id="10" name="Shape 8"/>
          <p:cNvSpPr/>
          <p:nvPr/>
        </p:nvSpPr>
        <p:spPr>
          <a:xfrm>
            <a:off x="5212080" y="1325880"/>
            <a:ext cx="54864" cy="3291840"/>
          </a:xfrm>
          <a:prstGeom prst="rect">
            <a:avLst/>
          </a:prstGeom>
          <a:solidFill>
            <a:srgbClr val="13315C"/>
          </a:solidFill>
          <a:ln/>
        </p:spPr>
      </p:sp>
      <p:sp>
        <p:nvSpPr>
          <p:cNvPr id="11" name="Text 9"/>
          <p:cNvSpPr/>
          <p:nvPr/>
        </p:nvSpPr>
        <p:spPr>
          <a:xfrm>
            <a:off x="5376672" y="1380744"/>
            <a:ext cx="3246120" cy="228600"/>
          </a:xfrm>
          <a:prstGeom prst="rect">
            <a:avLst/>
          </a:prstGeom>
          <a:noFill/>
          <a:ln/>
        </p:spPr>
        <p:txBody>
          <a:bodyPr wrap="square" lIns="0" tIns="0" rIns="0" bIns="0" rtlCol="0" anchor="ctr"/>
          <a:lstStyle/>
          <a:p>
            <a:pPr indent="0" marL="0">
              <a:buNone/>
            </a:pPr>
            <a:r>
              <a:rPr lang="en-US" sz="900" b="1" spc="300" kern="0" dirty="0">
                <a:solidFill>
                  <a:srgbClr val="13315C"/>
                </a:solidFill>
                <a:latin typeface="Calibri" pitchFamily="34" charset="0"/>
                <a:ea typeface="Calibri" pitchFamily="34" charset="-122"/>
                <a:cs typeface="Calibri" pitchFamily="34" charset="-120"/>
              </a:rPr>
              <a:t>src/nlp/parse_match_report.py</a:t>
            </a:r>
            <a:endParaRPr lang="en-US" sz="900" dirty="0"/>
          </a:p>
        </p:txBody>
      </p:sp>
      <p:sp>
        <p:nvSpPr>
          <p:cNvPr id="12" name="Text 10"/>
          <p:cNvSpPr/>
          <p:nvPr/>
        </p:nvSpPr>
        <p:spPr>
          <a:xfrm>
            <a:off x="5376672" y="1618488"/>
            <a:ext cx="3246120" cy="2907792"/>
          </a:xfrm>
          <a:prstGeom prst="rect">
            <a:avLst/>
          </a:prstGeom>
          <a:noFill/>
          <a:ln/>
        </p:spPr>
        <p:txBody>
          <a:bodyPr wrap="square" lIns="0" tIns="0" rIns="0" bIns="0" rtlCol="0" anchor="ctr"/>
          <a:lstStyle/>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def per_team_sentiment(text, h_t, a_t):</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sia = _sentiment()</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sents = re.split(</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r"(?&lt;=[.!?])\s+", text)</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hl, al = h_t.lower(), a_t.lower()</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h, a = [], []</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for s in sents:</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sl = s.lower()</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c = sia.polarity_scores(s)[</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"compound"]</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if hl in sl and al not in sl:</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h.append(c)</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elif al in sl and hl not in sl:</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a.append(c)</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return mean(h), mean(a)</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Knowhow Appendix   ·   Liang · Chen · Collaborator</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A9 / A12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A9  ·  UNSUPERVISED</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0B2545"/>
                </a:solidFill>
                <a:latin typeface="Georgia" pitchFamily="34" charset="0"/>
                <a:ea typeface="Georgia" pitchFamily="34" charset="-122"/>
                <a:cs typeface="Georgia" pitchFamily="34" charset="-120"/>
              </a:rPr>
              <a:t>PCA + K-means team-style clusters</a:t>
            </a:r>
            <a:endParaRPr lang="en-US" sz="2600" dirty="0"/>
          </a:p>
        </p:txBody>
      </p:sp>
      <p:sp>
        <p:nvSpPr>
          <p:cNvPr id="8" name="Text 6"/>
          <p:cNvSpPr/>
          <p:nvPr/>
        </p:nvSpPr>
        <p:spPr>
          <a:xfrm>
            <a:off x="457200" y="1325880"/>
            <a:ext cx="4572000" cy="2103120"/>
          </a:xfrm>
          <a:prstGeom prst="rect">
            <a:avLst/>
          </a:prstGeom>
          <a:noFill/>
          <a:ln/>
        </p:spPr>
        <p:txBody>
          <a:bodyPr wrap="square" lIns="0" tIns="0" rIns="0" bIns="0" rtlCol="0" anchor="ctr"/>
          <a:lstStyle/>
          <a:p>
            <a:pPr indent="0" marL="0">
              <a:lnSpc>
                <a:spcPct val="130000"/>
              </a:lnSpc>
              <a:buNone/>
            </a:pPr>
            <a:r>
              <a:rPr lang="en-US" sz="1150" b="1" dirty="0">
                <a:solidFill>
                  <a:srgbClr val="0B2545"/>
                </a:solidFill>
                <a:latin typeface="Calibri" pitchFamily="34" charset="0"/>
                <a:ea typeface="Calibri" pitchFamily="34" charset="-122"/>
                <a:cs typeface="Calibri" pitchFamily="34" charset="-120"/>
              </a:rPr>
              <a:t>Inputs.   </a:t>
            </a:r>
            <a:pPr indent="0" marL="0">
              <a:lnSpc>
                <a:spcPct val="130000"/>
              </a:lnSpc>
              <a:buNone/>
            </a:pPr>
            <a:r>
              <a:rPr lang="en-US" sz="1150" dirty="0">
                <a:solidFill>
                  <a:srgbClr val="1F2933"/>
                </a:solidFill>
                <a:latin typeface="Calibri" pitchFamily="34" charset="0"/>
                <a:ea typeface="Calibri" pitchFamily="34" charset="-122"/>
                <a:cs typeface="Calibri" pitchFamily="34" charset="-120"/>
              </a:rPr>
              <a:t>Per-team-per-season aggregate stats: shots/match, possession, passes-completed, xG-for, xG-against, set-piece share, fouls.
</a:t>
            </a:r>
            <a:pPr indent="0" marL="0">
              <a:lnSpc>
                <a:spcPct val="130000"/>
              </a:lnSpc>
              <a:buNone/>
            </a:pPr>
            <a:r>
              <a:rPr lang="en-US" sz="1150" b="1" dirty="0">
                <a:solidFill>
                  <a:srgbClr val="0B2545"/>
                </a:solidFill>
                <a:latin typeface="Calibri" pitchFamily="34" charset="0"/>
                <a:ea typeface="Calibri" pitchFamily="34" charset="-122"/>
                <a:cs typeface="Calibri" pitchFamily="34" charset="-120"/>
              </a:rPr>
              <a:t>Pipeline.   </a:t>
            </a:r>
            <a:pPr indent="0" marL="0">
              <a:lnSpc>
                <a:spcPct val="130000"/>
              </a:lnSpc>
              <a:buNone/>
            </a:pPr>
            <a:r>
              <a:rPr lang="en-US" sz="1150" dirty="0">
                <a:solidFill>
                  <a:srgbClr val="1F2933"/>
                </a:solidFill>
                <a:latin typeface="Calibri" pitchFamily="34" charset="0"/>
                <a:ea typeface="Calibri" pitchFamily="34" charset="-122"/>
                <a:cs typeface="Calibri" pitchFamily="34" charset="-120"/>
              </a:rPr>
              <a:t>StandardScaler → PCA(n=2) → KMeans(k=4, random_state=20260426).
</a:t>
            </a:r>
            <a:pPr indent="0" marL="0">
              <a:lnSpc>
                <a:spcPct val="130000"/>
              </a:lnSpc>
              <a:buNone/>
            </a:pPr>
            <a:r>
              <a:rPr lang="en-US" sz="1150" b="1" dirty="0">
                <a:solidFill>
                  <a:srgbClr val="0B2545"/>
                </a:solidFill>
                <a:latin typeface="Calibri" pitchFamily="34" charset="0"/>
                <a:ea typeface="Calibri" pitchFamily="34" charset="-122"/>
                <a:cs typeface="Calibri" pitchFamily="34" charset="-120"/>
              </a:rPr>
              <a:t>Why k=4.   </a:t>
            </a:r>
            <a:pPr indent="0" marL="0">
              <a:lnSpc>
                <a:spcPct val="130000"/>
              </a:lnSpc>
              <a:buNone/>
            </a:pPr>
            <a:r>
              <a:rPr lang="en-US" sz="1150" dirty="0">
                <a:solidFill>
                  <a:srgbClr val="1F2933"/>
                </a:solidFill>
                <a:latin typeface="Calibri" pitchFamily="34" charset="0"/>
                <a:ea typeface="Calibri" pitchFamily="34" charset="-122"/>
                <a:cs typeface="Calibri" pitchFamily="34" charset="-120"/>
              </a:rPr>
              <a:t>Elbow at k=4 on the within-cluster sum of squares; silhouette also peaks around k=4. The clusters correspond to interpretable archetypes:</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3520440"/>
          <a:ext cx="4572000" cy="960120"/>
        </p:xfrm>
        <a:graphic>
          <a:graphicData uri="http://schemas.openxmlformats.org/drawingml/2006/table">
            <a:tbl>
              <a:tblPr/>
              <a:tblGrid>
                <a:gridCol w="365760"/>
                <a:gridCol w="1645920"/>
                <a:gridCol w="2560320"/>
              </a:tblGrid>
              <a:tr h="18288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k</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Archetype</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Typical clubs</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r>
              <a:tr h="182880">
                <a:tc>
                  <a:txBody>
                    <a:bodyPr/>
                    <a:lstStyle/>
                    <a:p>
                      <a:pPr algn="ctr" indent="0" marL="0">
                        <a:buNone/>
                      </a:pPr>
                      <a:r>
                        <a:rPr lang="en-US" sz="950" dirty="0">
                          <a:solidFill>
                            <a:srgbClr val="1F2933"/>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Possession-dominant</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Man City, Liverpool, Chelsea</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182880">
                <a:tc>
                  <a:txBody>
                    <a:bodyPr/>
                    <a:lstStyle/>
                    <a:p>
                      <a:pPr algn="ctr" indent="0" marL="0">
                        <a:buNone/>
                      </a:pPr>
                      <a:r>
                        <a:rPr lang="en-US" sz="950" dirty="0">
                          <a:solidFill>
                            <a:srgbClr val="1F2933"/>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Counter-attacking</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Leicester '15-16, Spurs '21</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182880">
                <a:tc>
                  <a:txBody>
                    <a:bodyPr/>
                    <a:lstStyle/>
                    <a:p>
                      <a:pPr algn="ctr" indent="0" marL="0">
                        <a:buNone/>
                      </a:pPr>
                      <a:r>
                        <a:rPr lang="en-US" sz="950" dirty="0">
                          <a:solidFill>
                            <a:srgbClr val="1F2933"/>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Defensive low-block</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Burnley, Stoke '12-15</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182880">
                <a:tc>
                  <a:txBody>
                    <a:bodyPr/>
                    <a:lstStyle/>
                    <a:p>
                      <a:pPr algn="ctr" indent="0" marL="0">
                        <a:buNone/>
                      </a:pPr>
                      <a:r>
                        <a:rPr lang="en-US" sz="950" dirty="0">
                          <a:solidFill>
                            <a:srgbClr val="1F2933"/>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Mid-table mix</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West Ham, Everton, Newcastle</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bl>
          </a:graphicData>
        </a:graphic>
      </p:graphicFrame>
      <p:sp>
        <p:nvSpPr>
          <p:cNvPr id="10" name="Shape 7"/>
          <p:cNvSpPr/>
          <p:nvPr/>
        </p:nvSpPr>
        <p:spPr>
          <a:xfrm>
            <a:off x="5212080" y="1325880"/>
            <a:ext cx="3474720" cy="329184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pic>
        <p:nvPicPr>
          <p:cNvPr id="11" name="Image 0" descr="/Users/m2/Projects/STAT 5243/43 Project 4/figures/07_team_style_pca.png">    </p:cNvPr>
          <p:cNvPicPr>
            <a:picLocks noChangeAspect="1"/>
          </p:cNvPicPr>
          <p:nvPr/>
        </p:nvPicPr>
        <p:blipFill>
          <a:blip r:embed="rId1"/>
          <a:srcRect l="0" r="0" t="0" b="0"/>
          <a:stretch/>
        </p:blipFill>
        <p:spPr>
          <a:xfrm>
            <a:off x="5257800" y="1371600"/>
            <a:ext cx="3383280" cy="2926080"/>
          </a:xfrm>
          <a:prstGeom prst="rect">
            <a:avLst/>
          </a:prstGeom>
        </p:spPr>
      </p:pic>
      <p:sp>
        <p:nvSpPr>
          <p:cNvPr id="12" name="Text 8"/>
          <p:cNvSpPr/>
          <p:nvPr/>
        </p:nvSpPr>
        <p:spPr>
          <a:xfrm>
            <a:off x="5212080" y="4343400"/>
            <a:ext cx="3474720" cy="256032"/>
          </a:xfrm>
          <a:prstGeom prst="rect">
            <a:avLst/>
          </a:prstGeom>
          <a:noFill/>
          <a:ln/>
        </p:spPr>
        <p:txBody>
          <a:bodyPr wrap="square" lIns="0" tIns="0" rIns="0" bIns="0" rtlCol="0" anchor="ctr"/>
          <a:lstStyle/>
          <a:p>
            <a:pPr algn="ctr" indent="0" marL="0">
              <a:buNone/>
            </a:pPr>
            <a:r>
              <a:rPr lang="en-US" sz="900" i="1" dirty="0">
                <a:solidFill>
                  <a:srgbClr val="5A6573"/>
                </a:solidFill>
                <a:latin typeface="Calibri" pitchFamily="34" charset="0"/>
                <a:ea typeface="Calibri" pitchFamily="34" charset="-122"/>
                <a:cs typeface="Calibri" pitchFamily="34" charset="-120"/>
              </a:rPr>
              <a:t>PCA-2 with K-means (k=4) — see clusters identified on facing page.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Knowhow Appendix   ·   Liang · Chen · Collaborator</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A10 / A12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A10  ·  JOINS</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200" b="1" dirty="0">
                <a:solidFill>
                  <a:srgbClr val="0B2545"/>
                </a:solidFill>
                <a:latin typeface="Georgia" pitchFamily="34" charset="0"/>
                <a:ea typeface="Georgia" pitchFamily="34" charset="-122"/>
                <a:cs typeface="Georgia" pitchFamily="34" charset="-120"/>
              </a:rPr>
              <a:t>Team-name harmonisation — fail fast on unknowns</a:t>
            </a:r>
            <a:endParaRPr lang="en-US" sz="2200" dirty="0"/>
          </a:p>
        </p:txBody>
      </p:sp>
      <p:sp>
        <p:nvSpPr>
          <p:cNvPr id="8" name="Text 6"/>
          <p:cNvSpPr/>
          <p:nvPr/>
        </p:nvSpPr>
        <p:spPr>
          <a:xfrm>
            <a:off x="457200" y="1325880"/>
            <a:ext cx="4572000" cy="3246120"/>
          </a:xfrm>
          <a:prstGeom prst="rect">
            <a:avLst/>
          </a:prstGeom>
          <a:noFill/>
          <a:ln/>
        </p:spPr>
        <p:txBody>
          <a:bodyPr wrap="square" lIns="0" tIns="0" rIns="0" bIns="0" rtlCol="0" anchor="ctr"/>
          <a:lstStyle/>
          <a:p>
            <a:pPr indent="0" marL="0">
              <a:lnSpc>
                <a:spcPct val="130000"/>
              </a:lnSpc>
              <a:buNone/>
            </a:pPr>
            <a:r>
              <a:rPr lang="en-US" sz="1100" b="1" dirty="0">
                <a:solidFill>
                  <a:srgbClr val="0B2545"/>
                </a:solidFill>
                <a:latin typeface="Calibri" pitchFamily="34" charset="0"/>
                <a:ea typeface="Calibri" pitchFamily="34" charset="-122"/>
                <a:cs typeface="Calibri" pitchFamily="34" charset="-120"/>
              </a:rPr>
              <a:t>The silent-mis-join trap.
</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football-data.co.uk uses </a:t>
            </a:r>
            <a:pPr indent="0" marL="0">
              <a:lnSpc>
                <a:spcPct val="130000"/>
              </a:lnSpc>
              <a:buNone/>
            </a:pPr>
            <a:r>
              <a:rPr lang="en-US" sz="1000" dirty="0">
                <a:solidFill>
                  <a:srgbClr val="13315C"/>
                </a:solidFill>
                <a:latin typeface="Consolas" pitchFamily="34" charset="0"/>
                <a:ea typeface="Consolas" pitchFamily="34" charset="-122"/>
                <a:cs typeface="Consolas" pitchFamily="34" charset="-120"/>
              </a:rPr>
              <a:t>"Man United"</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 FBref uses </a:t>
            </a:r>
            <a:pPr indent="0" marL="0">
              <a:lnSpc>
                <a:spcPct val="130000"/>
              </a:lnSpc>
              <a:buNone/>
            </a:pPr>
            <a:r>
              <a:rPr lang="en-US" sz="1000" dirty="0">
                <a:solidFill>
                  <a:srgbClr val="13315C"/>
                </a:solidFill>
                <a:latin typeface="Consolas" pitchFamily="34" charset="0"/>
                <a:ea typeface="Consolas" pitchFamily="34" charset="-122"/>
                <a:cs typeface="Consolas" pitchFamily="34" charset="-120"/>
              </a:rPr>
              <a:t>"Manchester Utd"</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 BBC uses </a:t>
            </a:r>
            <a:pPr indent="0" marL="0">
              <a:lnSpc>
                <a:spcPct val="130000"/>
              </a:lnSpc>
              <a:buNone/>
            </a:pPr>
            <a:r>
              <a:rPr lang="en-US" sz="1000" dirty="0">
                <a:solidFill>
                  <a:srgbClr val="13315C"/>
                </a:solidFill>
                <a:latin typeface="Consolas" pitchFamily="34" charset="0"/>
                <a:ea typeface="Consolas" pitchFamily="34" charset="-122"/>
                <a:cs typeface="Consolas" pitchFamily="34" charset="-120"/>
              </a:rPr>
              <a:t>"Manchester United"</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 Wikipedia uses </a:t>
            </a:r>
            <a:pPr indent="0" marL="0">
              <a:lnSpc>
                <a:spcPct val="130000"/>
              </a:lnSpc>
              <a:buNone/>
            </a:pPr>
            <a:r>
              <a:rPr lang="en-US" sz="1000" dirty="0">
                <a:solidFill>
                  <a:srgbClr val="13315C"/>
                </a:solidFill>
                <a:latin typeface="Consolas" pitchFamily="34" charset="0"/>
                <a:ea typeface="Consolas" pitchFamily="34" charset="-122"/>
                <a:cs typeface="Consolas" pitchFamily="34" charset="-120"/>
              </a:rPr>
              <a:t>"Manchester United F.C."</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
A naive merge silently drops ~40% of rows and corrupts every feature downstream.
</a:t>
            </a:r>
            <a:pPr indent="0" marL="0">
              <a:lnSpc>
                <a:spcPct val="130000"/>
              </a:lnSpc>
              <a:buNone/>
            </a:pPr>
            <a:r>
              <a:rPr lang="en-US" sz="1100" b="1" dirty="0">
                <a:solidFill>
                  <a:srgbClr val="0B2545"/>
                </a:solidFill>
                <a:latin typeface="Calibri" pitchFamily="34" charset="0"/>
                <a:ea typeface="Calibri" pitchFamily="34" charset="-122"/>
                <a:cs typeface="Calibri" pitchFamily="34" charset="-120"/>
              </a:rPr>
              <a:t>Our pattern.
</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1.  Define a canonical name dict (Wikipedia article title minus F.C.).
</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2.  Every variant is normalised case + suffix-stripped.
</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3.  </a:t>
            </a:r>
            <a:pPr indent="0" marL="0">
              <a:lnSpc>
                <a:spcPct val="130000"/>
              </a:lnSpc>
              <a:buNone/>
            </a:pPr>
            <a:r>
              <a:rPr lang="en-US" sz="1000" b="1" dirty="0">
                <a:solidFill>
                  <a:srgbClr val="E07A5F"/>
                </a:solidFill>
                <a:latin typeface="Consolas" pitchFamily="34" charset="0"/>
                <a:ea typeface="Consolas" pitchFamily="34" charset="-122"/>
                <a:cs typeface="Consolas" pitchFamily="34" charset="-120"/>
              </a:rPr>
              <a:t>canonical()</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 raises </a:t>
            </a:r>
            <a:pPr indent="0" marL="0">
              <a:lnSpc>
                <a:spcPct val="130000"/>
              </a:lnSpc>
              <a:buNone/>
            </a:pPr>
            <a:r>
              <a:rPr lang="en-US" sz="1000" b="1" dirty="0">
                <a:solidFill>
                  <a:srgbClr val="E07A5F"/>
                </a:solidFill>
                <a:latin typeface="Consolas" pitchFamily="34" charset="0"/>
                <a:ea typeface="Consolas" pitchFamily="34" charset="-122"/>
                <a:cs typeface="Consolas" pitchFamily="34" charset="-120"/>
              </a:rPr>
              <a:t>UnknownTeamError</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 on miss — caller fails loudly.
</a:t>
            </a:r>
            <a:pPr indent="0" marL="0">
              <a:lnSpc>
                <a:spcPct val="130000"/>
              </a:lnSpc>
              <a:buNone/>
            </a:pPr>
            <a:r>
              <a:rPr lang="en-US" sz="1100" dirty="0">
                <a:solidFill>
                  <a:srgbClr val="1F2933"/>
                </a:solidFill>
                <a:latin typeface="Calibri" pitchFamily="34" charset="0"/>
                <a:ea typeface="Calibri" pitchFamily="34" charset="-122"/>
                <a:cs typeface="Calibri" pitchFamily="34" charset="-120"/>
              </a:rPr>
              <a:t>4.  CI runs the canonicaliser over every scraped row on every push.</a:t>
            </a:r>
            <a:endParaRPr lang="en-US" sz="1100" dirty="0"/>
          </a:p>
        </p:txBody>
      </p:sp>
      <p:sp>
        <p:nvSpPr>
          <p:cNvPr id="9" name="Shape 7"/>
          <p:cNvSpPr/>
          <p:nvPr/>
        </p:nvSpPr>
        <p:spPr>
          <a:xfrm>
            <a:off x="5212080" y="1325880"/>
            <a:ext cx="3474720" cy="3291840"/>
          </a:xfrm>
          <a:prstGeom prst="rect">
            <a:avLst/>
          </a:prstGeom>
          <a:solidFill>
            <a:srgbClr val="EEF2F6"/>
          </a:solidFill>
          <a:ln w="6350">
            <a:solidFill>
              <a:srgbClr val="D7DEE5"/>
            </a:solidFill>
            <a:prstDash val="solid"/>
          </a:ln>
        </p:spPr>
      </p:sp>
      <p:sp>
        <p:nvSpPr>
          <p:cNvPr id="10" name="Shape 8"/>
          <p:cNvSpPr/>
          <p:nvPr/>
        </p:nvSpPr>
        <p:spPr>
          <a:xfrm>
            <a:off x="5212080" y="1325880"/>
            <a:ext cx="54864" cy="3291840"/>
          </a:xfrm>
          <a:prstGeom prst="rect">
            <a:avLst/>
          </a:prstGeom>
          <a:solidFill>
            <a:srgbClr val="13315C"/>
          </a:solidFill>
          <a:ln/>
        </p:spPr>
      </p:sp>
      <p:sp>
        <p:nvSpPr>
          <p:cNvPr id="11" name="Text 9"/>
          <p:cNvSpPr/>
          <p:nvPr/>
        </p:nvSpPr>
        <p:spPr>
          <a:xfrm>
            <a:off x="5376672" y="1380744"/>
            <a:ext cx="3246120" cy="228600"/>
          </a:xfrm>
          <a:prstGeom prst="rect">
            <a:avLst/>
          </a:prstGeom>
          <a:noFill/>
          <a:ln/>
        </p:spPr>
        <p:txBody>
          <a:bodyPr wrap="square" lIns="0" tIns="0" rIns="0" bIns="0" rtlCol="0" anchor="ctr"/>
          <a:lstStyle/>
          <a:p>
            <a:pPr indent="0" marL="0">
              <a:buNone/>
            </a:pPr>
            <a:r>
              <a:rPr lang="en-US" sz="900" b="1" spc="300" kern="0" dirty="0">
                <a:solidFill>
                  <a:srgbClr val="13315C"/>
                </a:solidFill>
                <a:latin typeface="Calibri" pitchFamily="34" charset="0"/>
                <a:ea typeface="Calibri" pitchFamily="34" charset="-122"/>
                <a:cs typeface="Calibri" pitchFamily="34" charset="-120"/>
              </a:rPr>
              <a:t>src/team_harmonize.py</a:t>
            </a:r>
            <a:endParaRPr lang="en-US" sz="900" dirty="0"/>
          </a:p>
        </p:txBody>
      </p:sp>
      <p:sp>
        <p:nvSpPr>
          <p:cNvPr id="12" name="Text 10"/>
          <p:cNvSpPr/>
          <p:nvPr/>
        </p:nvSpPr>
        <p:spPr>
          <a:xfrm>
            <a:off x="5376672" y="1618488"/>
            <a:ext cx="3246120" cy="2907792"/>
          </a:xfrm>
          <a:prstGeom prst="rect">
            <a:avLst/>
          </a:prstGeom>
          <a:noFill/>
          <a:ln/>
        </p:spPr>
        <p:txBody>
          <a:bodyPr wrap="square" lIns="0" tIns="0" rIns="0" bIns="0" rtlCol="0" anchor="ctr"/>
          <a:lstStyle/>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class UnknownTeamError(KeyError):</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pass</a:t>
            </a:r>
            <a:endParaRPr lang="en-US" sz="900" dirty="0"/>
          </a:p>
          <a:p>
            <a:pPr indent="0" marL="0">
              <a:lnSpc>
                <a:spcPct val="105000"/>
              </a:lnSpc>
              <a:buNone/>
            </a:pP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_TEAM_VARIANTS = {</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"Manchester United": (</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"Man United", "Man Utd",</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"Manchester Utd",</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"Tottenham Hotspur": (</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"Tottenham", "Spurs",</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a:t>
            </a:r>
            <a:endParaRPr lang="en-US" sz="900" dirty="0"/>
          </a:p>
          <a:p>
            <a:pPr indent="0" marL="0">
              <a:lnSpc>
                <a:spcPct val="105000"/>
              </a:lnSpc>
              <a:buNone/>
            </a:pP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def canonical(name: str) -&gt; str:</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key = _normalize(name)</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if key not in _MAP:</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raise UnknownTeamError(name)</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return _MAP[key]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Knowhow Appendix   ·   Liang · Chen · Collaborator</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A11 / A12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A11  ·  CI SAFETY NET</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0B2545"/>
                </a:solidFill>
                <a:latin typeface="Georgia" pitchFamily="34" charset="0"/>
                <a:ea typeface="Georgia" pitchFamily="34" charset="-122"/>
                <a:cs typeface="Georgia" pitchFamily="34" charset="-120"/>
              </a:rPr>
              <a:t>Anti-leakage invariant — what the test checks</a:t>
            </a:r>
            <a:endParaRPr lang="en-US" sz="2600" dirty="0"/>
          </a:p>
        </p:txBody>
      </p:sp>
      <p:sp>
        <p:nvSpPr>
          <p:cNvPr id="8" name="Text 6"/>
          <p:cNvSpPr/>
          <p:nvPr/>
        </p:nvSpPr>
        <p:spPr>
          <a:xfrm>
            <a:off x="457200" y="1325880"/>
            <a:ext cx="4572000" cy="3246120"/>
          </a:xfrm>
          <a:prstGeom prst="rect">
            <a:avLst/>
          </a:prstGeom>
          <a:noFill/>
          <a:ln/>
        </p:spPr>
        <p:txBody>
          <a:bodyPr wrap="square" lIns="0" tIns="0" rIns="0" bIns="0" rtlCol="0" anchor="ctr"/>
          <a:lstStyle/>
          <a:p>
            <a:pPr indent="0" marL="0">
              <a:lnSpc>
                <a:spcPct val="130000"/>
              </a:lnSpc>
              <a:buNone/>
            </a:pPr>
            <a:r>
              <a:rPr lang="en-US" sz="1150" b="1" dirty="0">
                <a:solidFill>
                  <a:srgbClr val="0B2545"/>
                </a:solidFill>
                <a:latin typeface="Calibri" pitchFamily="34" charset="0"/>
                <a:ea typeface="Calibri" pitchFamily="34" charset="-122"/>
                <a:cs typeface="Calibri" pitchFamily="34" charset="-120"/>
              </a:rPr>
              <a:t>The invariant.
</a:t>
            </a:r>
            <a:pPr indent="0" marL="0">
              <a:lnSpc>
                <a:spcPct val="130000"/>
              </a:lnSpc>
              <a:buNone/>
            </a:pPr>
            <a:r>
              <a:rPr lang="en-US" sz="1150" dirty="0">
                <a:solidFill>
                  <a:srgbClr val="1F2933"/>
                </a:solidFill>
                <a:latin typeface="Calibri" pitchFamily="34" charset="0"/>
                <a:ea typeface="Calibri" pitchFamily="34" charset="-122"/>
                <a:cs typeface="Calibri" pitchFamily="34" charset="-120"/>
              </a:rPr>
              <a:t>For every row m in the processed feature matrix and every rolling feature column f, the value of f[m] depends only on rows whose match_date is strictly less than m.match_date.
</a:t>
            </a:r>
            <a:pPr indent="0" marL="0">
              <a:lnSpc>
                <a:spcPct val="130000"/>
              </a:lnSpc>
              <a:buNone/>
            </a:pPr>
            <a:r>
              <a:rPr lang="en-US" sz="1150" b="1" dirty="0">
                <a:solidFill>
                  <a:srgbClr val="0B2545"/>
                </a:solidFill>
                <a:latin typeface="Calibri" pitchFamily="34" charset="0"/>
                <a:ea typeface="Calibri" pitchFamily="34" charset="-122"/>
                <a:cs typeface="Calibri" pitchFamily="34" charset="-120"/>
              </a:rPr>
              <a:t>What would break.
</a:t>
            </a:r>
            <a:pPr indent="0" marL="0">
              <a:lnSpc>
                <a:spcPct val="130000"/>
              </a:lnSpc>
              <a:buNone/>
            </a:pPr>
            <a:r>
              <a:rPr lang="en-US" sz="1150" dirty="0">
                <a:solidFill>
                  <a:srgbClr val="1F2933"/>
                </a:solidFill>
                <a:latin typeface="Calibri" pitchFamily="34" charset="0"/>
                <a:ea typeface="Calibri" pitchFamily="34" charset="-122"/>
                <a:cs typeface="Calibri" pitchFamily="34" charset="-120"/>
              </a:rPr>
              <a:t>Forgetting a </a:t>
            </a:r>
            <a:pPr indent="0" marL="0">
              <a:lnSpc>
                <a:spcPct val="130000"/>
              </a:lnSpc>
              <a:buNone/>
            </a:pPr>
            <a:r>
              <a:rPr lang="en-US" sz="1000" b="1" dirty="0">
                <a:solidFill>
                  <a:srgbClr val="E07A5F"/>
                </a:solidFill>
                <a:latin typeface="Consolas" pitchFamily="34" charset="0"/>
                <a:ea typeface="Consolas" pitchFamily="34" charset="-122"/>
                <a:cs typeface="Consolas" pitchFamily="34" charset="-120"/>
              </a:rPr>
              <a:t>.shift(1)</a:t>
            </a:r>
            <a:pPr indent="0" marL="0">
              <a:lnSpc>
                <a:spcPct val="130000"/>
              </a:lnSpc>
              <a:buNone/>
            </a:pPr>
            <a:r>
              <a:rPr lang="en-US" sz="1150" dirty="0">
                <a:solidFill>
                  <a:srgbClr val="1F2933"/>
                </a:solidFill>
                <a:latin typeface="Calibri" pitchFamily="34" charset="0"/>
                <a:ea typeface="Calibri" pitchFamily="34" charset="-122"/>
                <a:cs typeface="Calibri" pitchFamily="34" charset="-120"/>
              </a:rPr>
              <a:t> on a rolling-window aggregate would let the current match's own goals leak into its own form-feature.
</a:t>
            </a:r>
            <a:pPr indent="0" marL="0">
              <a:lnSpc>
                <a:spcPct val="130000"/>
              </a:lnSpc>
              <a:buNone/>
            </a:pPr>
            <a:r>
              <a:rPr lang="en-US" sz="1150" b="1" dirty="0">
                <a:solidFill>
                  <a:srgbClr val="0B2545"/>
                </a:solidFill>
                <a:latin typeface="Calibri" pitchFamily="34" charset="0"/>
                <a:ea typeface="Calibri" pitchFamily="34" charset="-122"/>
                <a:cs typeface="Calibri" pitchFamily="34" charset="-120"/>
              </a:rPr>
              <a:t>What the test does.
</a:t>
            </a:r>
            <a:pPr indent="0" marL="0">
              <a:lnSpc>
                <a:spcPct val="130000"/>
              </a:lnSpc>
              <a:buNone/>
            </a:pPr>
            <a:r>
              <a:rPr lang="en-US" sz="1150" dirty="0">
                <a:solidFill>
                  <a:srgbClr val="1F2933"/>
                </a:solidFill>
                <a:latin typeface="Calibri" pitchFamily="34" charset="0"/>
                <a:ea typeface="Calibri" pitchFamily="34" charset="-122"/>
                <a:cs typeface="Calibri" pitchFamily="34" charset="-120"/>
              </a:rPr>
              <a:t>Build features twice — once with the full dataset, once with the dataset truncated to seasons ≤ 2018-19. For every match in 2018-19, the feature values must match exactly across the two builds. </a:t>
            </a:r>
            <a:pPr indent="0" marL="0">
              <a:lnSpc>
                <a:spcPct val="130000"/>
              </a:lnSpc>
              <a:buNone/>
            </a:pPr>
            <a:r>
              <a:rPr lang="en-US" sz="1150" b="1" i="1" dirty="0">
                <a:solidFill>
                  <a:srgbClr val="E07A5F"/>
                </a:solidFill>
                <a:latin typeface="Calibri" pitchFamily="34" charset="0"/>
                <a:ea typeface="Calibri" pitchFamily="34" charset="-122"/>
                <a:cs typeface="Calibri" pitchFamily="34" charset="-120"/>
              </a:rPr>
              <a:t>If they differ, future data leaked.</a:t>
            </a:r>
            <a:endParaRPr lang="en-US" sz="1150" dirty="0"/>
          </a:p>
        </p:txBody>
      </p:sp>
      <p:sp>
        <p:nvSpPr>
          <p:cNvPr id="9" name="Shape 7"/>
          <p:cNvSpPr/>
          <p:nvPr/>
        </p:nvSpPr>
        <p:spPr>
          <a:xfrm>
            <a:off x="5212080" y="1325880"/>
            <a:ext cx="3474720" cy="3291840"/>
          </a:xfrm>
          <a:prstGeom prst="rect">
            <a:avLst/>
          </a:prstGeom>
          <a:solidFill>
            <a:srgbClr val="EEF2F6"/>
          </a:solidFill>
          <a:ln w="6350">
            <a:solidFill>
              <a:srgbClr val="D7DEE5"/>
            </a:solidFill>
            <a:prstDash val="solid"/>
          </a:ln>
        </p:spPr>
      </p:sp>
      <p:sp>
        <p:nvSpPr>
          <p:cNvPr id="10" name="Shape 8"/>
          <p:cNvSpPr/>
          <p:nvPr/>
        </p:nvSpPr>
        <p:spPr>
          <a:xfrm>
            <a:off x="5212080" y="1325880"/>
            <a:ext cx="54864" cy="3291840"/>
          </a:xfrm>
          <a:prstGeom prst="rect">
            <a:avLst/>
          </a:prstGeom>
          <a:solidFill>
            <a:srgbClr val="13315C"/>
          </a:solidFill>
          <a:ln/>
        </p:spPr>
      </p:sp>
      <p:sp>
        <p:nvSpPr>
          <p:cNvPr id="11" name="Text 9"/>
          <p:cNvSpPr/>
          <p:nvPr/>
        </p:nvSpPr>
        <p:spPr>
          <a:xfrm>
            <a:off x="5376672" y="1380744"/>
            <a:ext cx="3246120" cy="228600"/>
          </a:xfrm>
          <a:prstGeom prst="rect">
            <a:avLst/>
          </a:prstGeom>
          <a:noFill/>
          <a:ln/>
        </p:spPr>
        <p:txBody>
          <a:bodyPr wrap="square" lIns="0" tIns="0" rIns="0" bIns="0" rtlCol="0" anchor="ctr"/>
          <a:lstStyle/>
          <a:p>
            <a:pPr indent="0" marL="0">
              <a:buNone/>
            </a:pPr>
            <a:r>
              <a:rPr lang="en-US" sz="900" b="1" spc="300" kern="0" dirty="0">
                <a:solidFill>
                  <a:srgbClr val="13315C"/>
                </a:solidFill>
                <a:latin typeface="Calibri" pitchFamily="34" charset="0"/>
                <a:ea typeface="Calibri" pitchFamily="34" charset="-122"/>
                <a:cs typeface="Calibri" pitchFamily="34" charset="-120"/>
              </a:rPr>
              <a:t>tests.test_no_temporal_leakage</a:t>
            </a:r>
            <a:endParaRPr lang="en-US" sz="900" dirty="0"/>
          </a:p>
        </p:txBody>
      </p:sp>
      <p:sp>
        <p:nvSpPr>
          <p:cNvPr id="12" name="Text 10"/>
          <p:cNvSpPr/>
          <p:nvPr/>
        </p:nvSpPr>
        <p:spPr>
          <a:xfrm>
            <a:off x="5376672" y="1618488"/>
            <a:ext cx="3246120" cy="2907792"/>
          </a:xfrm>
          <a:prstGeom prst="rect">
            <a:avLst/>
          </a:prstGeom>
          <a:noFill/>
          <a:ln/>
        </p:spPr>
        <p:txBody>
          <a:bodyPr wrap="square" lIns="0" tIns="0" rIns="0" bIns="0" rtlCol="0" anchor="ctr"/>
          <a:lstStyle/>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def test_no_temporal_leakage():</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raw = load_interim_matches()</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full = build_processed_matches(raw)</a:t>
            </a:r>
            <a:endParaRPr lang="en-US" sz="900" dirty="0"/>
          </a:p>
          <a:p>
            <a:pPr indent="0" marL="0">
              <a:lnSpc>
                <a:spcPct val="105000"/>
              </a:lnSpc>
              <a:buNone/>
            </a:pP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cutoff = pd.Timestamp("2019-08-01")</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early = raw[raw.match_date &lt; cutoff]</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truncd = build_processed_matches(early)</a:t>
            </a:r>
            <a:endParaRPr lang="en-US" sz="900" dirty="0"/>
          </a:p>
          <a:p>
            <a:pPr indent="0" marL="0">
              <a:lnSpc>
                <a:spcPct val="105000"/>
              </a:lnSpc>
              <a:buNone/>
            </a:pP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cols = [c for c in full.columns</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if c.startswith(("home_form",</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"away_form"))]</a:t>
            </a:r>
            <a:endParaRPr lang="en-US" sz="900" dirty="0"/>
          </a:p>
          <a:p>
            <a:pPr indent="0" marL="0">
              <a:lnSpc>
                <a:spcPct val="105000"/>
              </a:lnSpc>
              <a:buNone/>
            </a:pP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full_pre = full[full.match_date &lt; cutoff]</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pdt.assert_frame_equal(</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full_pre[cols].reset_index(drop=True),</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truncd[cols].reset_index(drop=True),</a:t>
            </a:r>
            <a:endParaRPr lang="en-US" sz="900" dirty="0"/>
          </a:p>
          <a:p>
            <a:pPr indent="0" marL="0">
              <a:lnSpc>
                <a:spcPct val="105000"/>
              </a:lnSpc>
              <a:buNone/>
            </a:pPr>
            <a:r>
              <a:rPr lang="en-US" sz="900" dirty="0">
                <a:solidFill>
                  <a:srgbClr val="1F2933"/>
                </a:solidFill>
                <a:latin typeface="Consolas" pitchFamily="34" charset="0"/>
                <a:ea typeface="Consolas" pitchFamily="34" charset="-122"/>
                <a:cs typeface="Consolas" pitchFamily="34" charset="-120"/>
              </a:rPr>
              <a:t>    )</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Knowhow Appendix   ·   Liang · Chen · Collaborator</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A12 / A12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A12  ·  DEPLOY</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0B2545"/>
                </a:solidFill>
                <a:latin typeface="Georgia" pitchFamily="34" charset="0"/>
                <a:ea typeface="Georgia" pitchFamily="34" charset="-122"/>
                <a:cs typeface="Georgia" pitchFamily="34" charset="-120"/>
              </a:rPr>
              <a:t>Posit Connect Cloud deployment workflow</a:t>
            </a:r>
            <a:endParaRPr lang="en-US" sz="2600" dirty="0"/>
          </a:p>
        </p:txBody>
      </p:sp>
      <p:sp>
        <p:nvSpPr>
          <p:cNvPr id="8" name="Shape 6"/>
          <p:cNvSpPr/>
          <p:nvPr/>
        </p:nvSpPr>
        <p:spPr>
          <a:xfrm>
            <a:off x="457200" y="1325880"/>
            <a:ext cx="8229600" cy="59436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57200" y="1325880"/>
            <a:ext cx="54864" cy="594360"/>
          </a:xfrm>
          <a:prstGeom prst="rect">
            <a:avLst/>
          </a:prstGeom>
          <a:solidFill>
            <a:srgbClr val="E07A5F"/>
          </a:solidFill>
          <a:ln/>
        </p:spPr>
      </p:sp>
      <p:sp>
        <p:nvSpPr>
          <p:cNvPr id="10" name="Text 8"/>
          <p:cNvSpPr/>
          <p:nvPr/>
        </p:nvSpPr>
        <p:spPr>
          <a:xfrm>
            <a:off x="594360" y="1417320"/>
            <a:ext cx="457200" cy="411480"/>
          </a:xfrm>
          <a:prstGeom prst="rect">
            <a:avLst/>
          </a:prstGeom>
          <a:noFill/>
          <a:ln/>
        </p:spPr>
        <p:txBody>
          <a:bodyPr wrap="square" lIns="0" tIns="0" rIns="0" bIns="0" rtlCol="0" anchor="ctr"/>
          <a:lstStyle/>
          <a:p>
            <a:pPr algn="ctr" indent="0" marL="0">
              <a:buNone/>
            </a:pPr>
            <a:r>
              <a:rPr lang="en-US" sz="2200" b="1" dirty="0">
                <a:solidFill>
                  <a:srgbClr val="7FB3D5"/>
                </a:solidFill>
                <a:latin typeface="Georgia" pitchFamily="34" charset="0"/>
                <a:ea typeface="Georgia" pitchFamily="34" charset="-122"/>
                <a:cs typeface="Georgia" pitchFamily="34" charset="-120"/>
              </a:rPr>
              <a:t>1</a:t>
            </a:r>
            <a:endParaRPr lang="en-US" sz="2200" dirty="0"/>
          </a:p>
        </p:txBody>
      </p:sp>
      <p:sp>
        <p:nvSpPr>
          <p:cNvPr id="11" name="Text 9"/>
          <p:cNvSpPr/>
          <p:nvPr/>
        </p:nvSpPr>
        <p:spPr>
          <a:xfrm>
            <a:off x="1143000" y="1399032"/>
            <a:ext cx="2011680" cy="27432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Pre-bake artefacts</a:t>
            </a:r>
            <a:endParaRPr lang="en-US" sz="1200" dirty="0"/>
          </a:p>
        </p:txBody>
      </p:sp>
      <p:sp>
        <p:nvSpPr>
          <p:cNvPr id="12" name="Text 10"/>
          <p:cNvSpPr/>
          <p:nvPr/>
        </p:nvSpPr>
        <p:spPr>
          <a:xfrm>
            <a:off x="3246120" y="1399032"/>
            <a:ext cx="5303520" cy="429768"/>
          </a:xfrm>
          <a:prstGeom prst="rect">
            <a:avLst/>
          </a:prstGeom>
          <a:noFill/>
          <a:ln/>
        </p:spPr>
        <p:txBody>
          <a:bodyPr wrap="square" lIns="0" tIns="0" rIns="0" bIns="0" rtlCol="0" anchor="ctr"/>
          <a:lstStyle/>
          <a:p>
            <a:pPr indent="0" marL="0">
              <a:lnSpc>
                <a:spcPct val="120000"/>
              </a:lnSpc>
              <a:buNone/>
            </a:pPr>
            <a:r>
              <a:rPr lang="en-US" sz="1100" dirty="0">
                <a:solidFill>
                  <a:srgbClr val="1F2933"/>
                </a:solidFill>
                <a:latin typeface="Calibri" pitchFamily="34" charset="0"/>
                <a:ea typeface="Calibri" pitchFamily="34" charset="-122"/>
                <a:cs typeface="Calibri" pitchFamily="34" charset="-120"/>
              </a:rPr>
              <a:t>Run scrape → train → evaluate locally; commit results/leaderboard.csv plus the .joblib model files into the repo.</a:t>
            </a:r>
            <a:endParaRPr lang="en-US" sz="1100" dirty="0"/>
          </a:p>
        </p:txBody>
      </p:sp>
      <p:sp>
        <p:nvSpPr>
          <p:cNvPr id="13" name="Shape 11"/>
          <p:cNvSpPr/>
          <p:nvPr/>
        </p:nvSpPr>
        <p:spPr>
          <a:xfrm>
            <a:off x="457200" y="2011680"/>
            <a:ext cx="8229600" cy="59436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457200" y="2011680"/>
            <a:ext cx="54864" cy="594360"/>
          </a:xfrm>
          <a:prstGeom prst="rect">
            <a:avLst/>
          </a:prstGeom>
          <a:solidFill>
            <a:srgbClr val="E07A5F"/>
          </a:solidFill>
          <a:ln/>
        </p:spPr>
      </p:sp>
      <p:sp>
        <p:nvSpPr>
          <p:cNvPr id="15" name="Text 13"/>
          <p:cNvSpPr/>
          <p:nvPr/>
        </p:nvSpPr>
        <p:spPr>
          <a:xfrm>
            <a:off x="594360" y="2103120"/>
            <a:ext cx="457200" cy="411480"/>
          </a:xfrm>
          <a:prstGeom prst="rect">
            <a:avLst/>
          </a:prstGeom>
          <a:noFill/>
          <a:ln/>
        </p:spPr>
        <p:txBody>
          <a:bodyPr wrap="square" lIns="0" tIns="0" rIns="0" bIns="0" rtlCol="0" anchor="ctr"/>
          <a:lstStyle/>
          <a:p>
            <a:pPr algn="ctr" indent="0" marL="0">
              <a:buNone/>
            </a:pPr>
            <a:r>
              <a:rPr lang="en-US" sz="2200" b="1" dirty="0">
                <a:solidFill>
                  <a:srgbClr val="7FB3D5"/>
                </a:solidFill>
                <a:latin typeface="Georgia" pitchFamily="34" charset="0"/>
                <a:ea typeface="Georgia" pitchFamily="34" charset="-122"/>
                <a:cs typeface="Georgia" pitchFamily="34" charset="-120"/>
              </a:rPr>
              <a:t>2</a:t>
            </a:r>
            <a:endParaRPr lang="en-US" sz="2200" dirty="0"/>
          </a:p>
        </p:txBody>
      </p:sp>
      <p:sp>
        <p:nvSpPr>
          <p:cNvPr id="16" name="Text 14"/>
          <p:cNvSpPr/>
          <p:nvPr/>
        </p:nvSpPr>
        <p:spPr>
          <a:xfrm>
            <a:off x="1143000" y="2084832"/>
            <a:ext cx="2011680" cy="27432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Pin the environment</a:t>
            </a:r>
            <a:endParaRPr lang="en-US" sz="1200" dirty="0"/>
          </a:p>
        </p:txBody>
      </p:sp>
      <p:sp>
        <p:nvSpPr>
          <p:cNvPr id="17" name="Text 15"/>
          <p:cNvSpPr/>
          <p:nvPr/>
        </p:nvSpPr>
        <p:spPr>
          <a:xfrm>
            <a:off x="3246120" y="2084832"/>
            <a:ext cx="5303520" cy="429768"/>
          </a:xfrm>
          <a:prstGeom prst="rect">
            <a:avLst/>
          </a:prstGeom>
          <a:noFill/>
          <a:ln/>
        </p:spPr>
        <p:txBody>
          <a:bodyPr wrap="square" lIns="0" tIns="0" rIns="0" bIns="0" rtlCol="0" anchor="ctr"/>
          <a:lstStyle/>
          <a:p>
            <a:pPr indent="0" marL="0">
              <a:lnSpc>
                <a:spcPct val="120000"/>
              </a:lnSpc>
              <a:buNone/>
            </a:pPr>
            <a:r>
              <a:rPr lang="en-US" sz="1100" dirty="0">
                <a:solidFill>
                  <a:srgbClr val="1F2933"/>
                </a:solidFill>
                <a:latin typeface="Calibri" pitchFamily="34" charset="0"/>
                <a:ea typeface="Calibri" pitchFamily="34" charset="-122"/>
                <a:cs typeface="Calibri" pitchFamily="34" charset="-120"/>
              </a:rPr>
              <a:t>requirements.txt with exact versions; rsconnect-python verifies and replays the env in the cloud build.</a:t>
            </a:r>
            <a:endParaRPr lang="en-US" sz="1100" dirty="0"/>
          </a:p>
        </p:txBody>
      </p:sp>
      <p:sp>
        <p:nvSpPr>
          <p:cNvPr id="18" name="Shape 16"/>
          <p:cNvSpPr/>
          <p:nvPr/>
        </p:nvSpPr>
        <p:spPr>
          <a:xfrm>
            <a:off x="457200" y="2697480"/>
            <a:ext cx="8229600" cy="59436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457200" y="2697480"/>
            <a:ext cx="54864" cy="594360"/>
          </a:xfrm>
          <a:prstGeom prst="rect">
            <a:avLst/>
          </a:prstGeom>
          <a:solidFill>
            <a:srgbClr val="E07A5F"/>
          </a:solidFill>
          <a:ln/>
        </p:spPr>
      </p:sp>
      <p:sp>
        <p:nvSpPr>
          <p:cNvPr id="20" name="Text 18"/>
          <p:cNvSpPr/>
          <p:nvPr/>
        </p:nvSpPr>
        <p:spPr>
          <a:xfrm>
            <a:off x="594360" y="2788920"/>
            <a:ext cx="457200" cy="411480"/>
          </a:xfrm>
          <a:prstGeom prst="rect">
            <a:avLst/>
          </a:prstGeom>
          <a:noFill/>
          <a:ln/>
        </p:spPr>
        <p:txBody>
          <a:bodyPr wrap="square" lIns="0" tIns="0" rIns="0" bIns="0" rtlCol="0" anchor="ctr"/>
          <a:lstStyle/>
          <a:p>
            <a:pPr algn="ctr" indent="0" marL="0">
              <a:buNone/>
            </a:pPr>
            <a:r>
              <a:rPr lang="en-US" sz="2200" b="1" dirty="0">
                <a:solidFill>
                  <a:srgbClr val="7FB3D5"/>
                </a:solidFill>
                <a:latin typeface="Georgia" pitchFamily="34" charset="0"/>
                <a:ea typeface="Georgia" pitchFamily="34" charset="-122"/>
                <a:cs typeface="Georgia" pitchFamily="34" charset="-120"/>
              </a:rPr>
              <a:t>3</a:t>
            </a:r>
            <a:endParaRPr lang="en-US" sz="2200" dirty="0"/>
          </a:p>
        </p:txBody>
      </p:sp>
      <p:sp>
        <p:nvSpPr>
          <p:cNvPr id="21" name="Text 19"/>
          <p:cNvSpPr/>
          <p:nvPr/>
        </p:nvSpPr>
        <p:spPr>
          <a:xfrm>
            <a:off x="1143000" y="2770632"/>
            <a:ext cx="2011680" cy="27432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rsconnect deploy</a:t>
            </a:r>
            <a:endParaRPr lang="en-US" sz="1200" dirty="0"/>
          </a:p>
        </p:txBody>
      </p:sp>
      <p:sp>
        <p:nvSpPr>
          <p:cNvPr id="22" name="Text 20"/>
          <p:cNvSpPr/>
          <p:nvPr/>
        </p:nvSpPr>
        <p:spPr>
          <a:xfrm>
            <a:off x="3246120" y="2770632"/>
            <a:ext cx="5303520" cy="429768"/>
          </a:xfrm>
          <a:prstGeom prst="rect">
            <a:avLst/>
          </a:prstGeom>
          <a:noFill/>
          <a:ln/>
        </p:spPr>
        <p:txBody>
          <a:bodyPr wrap="square" lIns="0" tIns="0" rIns="0" bIns="0" rtlCol="0" anchor="ctr"/>
          <a:lstStyle/>
          <a:p>
            <a:pPr indent="0" marL="0">
              <a:lnSpc>
                <a:spcPct val="120000"/>
              </a:lnSpc>
              <a:buNone/>
            </a:pPr>
            <a:r>
              <a:rPr lang="en-US" sz="1000" dirty="0">
                <a:solidFill>
                  <a:srgbClr val="1F2933"/>
                </a:solidFill>
                <a:latin typeface="Consolas" pitchFamily="34" charset="0"/>
                <a:ea typeface="Consolas" pitchFamily="34" charset="-122"/>
                <a:cs typeface="Consolas" pitchFamily="34" charset="-120"/>
              </a:rPr>
              <a:t>rsconnect deploy shiny app.py --server connect.posit.cloud --api-key $RSC_API_KEY</a:t>
            </a:r>
            <a:endParaRPr lang="en-US" sz="1000" dirty="0"/>
          </a:p>
        </p:txBody>
      </p:sp>
      <p:sp>
        <p:nvSpPr>
          <p:cNvPr id="23" name="Shape 21"/>
          <p:cNvSpPr/>
          <p:nvPr/>
        </p:nvSpPr>
        <p:spPr>
          <a:xfrm>
            <a:off x="457200" y="3383280"/>
            <a:ext cx="8229600" cy="59436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24" name="Shape 22"/>
          <p:cNvSpPr/>
          <p:nvPr/>
        </p:nvSpPr>
        <p:spPr>
          <a:xfrm>
            <a:off x="457200" y="3383280"/>
            <a:ext cx="54864" cy="594360"/>
          </a:xfrm>
          <a:prstGeom prst="rect">
            <a:avLst/>
          </a:prstGeom>
          <a:solidFill>
            <a:srgbClr val="E07A5F"/>
          </a:solidFill>
          <a:ln/>
        </p:spPr>
      </p:sp>
      <p:sp>
        <p:nvSpPr>
          <p:cNvPr id="25" name="Text 23"/>
          <p:cNvSpPr/>
          <p:nvPr/>
        </p:nvSpPr>
        <p:spPr>
          <a:xfrm>
            <a:off x="594360" y="3474720"/>
            <a:ext cx="457200" cy="411480"/>
          </a:xfrm>
          <a:prstGeom prst="rect">
            <a:avLst/>
          </a:prstGeom>
          <a:noFill/>
          <a:ln/>
        </p:spPr>
        <p:txBody>
          <a:bodyPr wrap="square" lIns="0" tIns="0" rIns="0" bIns="0" rtlCol="0" anchor="ctr"/>
          <a:lstStyle/>
          <a:p>
            <a:pPr algn="ctr" indent="0" marL="0">
              <a:buNone/>
            </a:pPr>
            <a:r>
              <a:rPr lang="en-US" sz="2200" b="1" dirty="0">
                <a:solidFill>
                  <a:srgbClr val="7FB3D5"/>
                </a:solidFill>
                <a:latin typeface="Georgia" pitchFamily="34" charset="0"/>
                <a:ea typeface="Georgia" pitchFamily="34" charset="-122"/>
                <a:cs typeface="Georgia" pitchFamily="34" charset="-120"/>
              </a:rPr>
              <a:t>4</a:t>
            </a:r>
            <a:endParaRPr lang="en-US" sz="2200" dirty="0"/>
          </a:p>
        </p:txBody>
      </p:sp>
      <p:sp>
        <p:nvSpPr>
          <p:cNvPr id="26" name="Text 24"/>
          <p:cNvSpPr/>
          <p:nvPr/>
        </p:nvSpPr>
        <p:spPr>
          <a:xfrm>
            <a:off x="1143000" y="3456432"/>
            <a:ext cx="2011680" cy="27432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Smoke-test in cloud</a:t>
            </a:r>
            <a:endParaRPr lang="en-US" sz="1200" dirty="0"/>
          </a:p>
        </p:txBody>
      </p:sp>
      <p:sp>
        <p:nvSpPr>
          <p:cNvPr id="27" name="Text 25"/>
          <p:cNvSpPr/>
          <p:nvPr/>
        </p:nvSpPr>
        <p:spPr>
          <a:xfrm>
            <a:off x="3246120" y="3456432"/>
            <a:ext cx="5303520" cy="429768"/>
          </a:xfrm>
          <a:prstGeom prst="rect">
            <a:avLst/>
          </a:prstGeom>
          <a:noFill/>
          <a:ln/>
        </p:spPr>
        <p:txBody>
          <a:bodyPr wrap="square" lIns="0" tIns="0" rIns="0" bIns="0" rtlCol="0" anchor="ctr"/>
          <a:lstStyle/>
          <a:p>
            <a:pPr indent="0" marL="0">
              <a:lnSpc>
                <a:spcPct val="120000"/>
              </a:lnSpc>
              <a:buNone/>
            </a:pPr>
            <a:r>
              <a:rPr lang="en-US" sz="1100" dirty="0">
                <a:solidFill>
                  <a:srgbClr val="1F2933"/>
                </a:solidFill>
                <a:latin typeface="Calibri" pitchFamily="34" charset="0"/>
                <a:ea typeface="Calibri" pitchFamily="34" charset="-122"/>
                <a:cs typeface="Calibri" pitchFamily="34" charset="-120"/>
              </a:rPr>
              <a:t>First request loads models; warm-time ~6s; subsequent requests &lt;300ms because Shiny keeps state.</a:t>
            </a:r>
            <a:endParaRPr lang="en-US" sz="1100" dirty="0"/>
          </a:p>
        </p:txBody>
      </p:sp>
      <p:sp>
        <p:nvSpPr>
          <p:cNvPr id="28" name="Shape 26"/>
          <p:cNvSpPr/>
          <p:nvPr/>
        </p:nvSpPr>
        <p:spPr>
          <a:xfrm>
            <a:off x="457200" y="4069080"/>
            <a:ext cx="8229600" cy="59436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457200" y="4069080"/>
            <a:ext cx="54864" cy="594360"/>
          </a:xfrm>
          <a:prstGeom prst="rect">
            <a:avLst/>
          </a:prstGeom>
          <a:solidFill>
            <a:srgbClr val="E07A5F"/>
          </a:solidFill>
          <a:ln/>
        </p:spPr>
      </p:sp>
      <p:sp>
        <p:nvSpPr>
          <p:cNvPr id="30" name="Text 28"/>
          <p:cNvSpPr/>
          <p:nvPr/>
        </p:nvSpPr>
        <p:spPr>
          <a:xfrm>
            <a:off x="594360" y="4160520"/>
            <a:ext cx="457200" cy="411480"/>
          </a:xfrm>
          <a:prstGeom prst="rect">
            <a:avLst/>
          </a:prstGeom>
          <a:noFill/>
          <a:ln/>
        </p:spPr>
        <p:txBody>
          <a:bodyPr wrap="square" lIns="0" tIns="0" rIns="0" bIns="0" rtlCol="0" anchor="ctr"/>
          <a:lstStyle/>
          <a:p>
            <a:pPr algn="ctr" indent="0" marL="0">
              <a:buNone/>
            </a:pPr>
            <a:r>
              <a:rPr lang="en-US" sz="2200" b="1" dirty="0">
                <a:solidFill>
                  <a:srgbClr val="7FB3D5"/>
                </a:solidFill>
                <a:latin typeface="Georgia" pitchFamily="34" charset="0"/>
                <a:ea typeface="Georgia" pitchFamily="34" charset="-122"/>
                <a:cs typeface="Georgia" pitchFamily="34" charset="-120"/>
              </a:rPr>
              <a:t>5</a:t>
            </a:r>
            <a:endParaRPr lang="en-US" sz="2200" dirty="0"/>
          </a:p>
        </p:txBody>
      </p:sp>
      <p:sp>
        <p:nvSpPr>
          <p:cNvPr id="31" name="Text 29"/>
          <p:cNvSpPr/>
          <p:nvPr/>
        </p:nvSpPr>
        <p:spPr>
          <a:xfrm>
            <a:off x="1143000" y="4142232"/>
            <a:ext cx="2011680" cy="27432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Pin the URL</a:t>
            </a:r>
            <a:endParaRPr lang="en-US" sz="1200" dirty="0"/>
          </a:p>
        </p:txBody>
      </p:sp>
      <p:sp>
        <p:nvSpPr>
          <p:cNvPr id="32" name="Text 30"/>
          <p:cNvSpPr/>
          <p:nvPr/>
        </p:nvSpPr>
        <p:spPr>
          <a:xfrm>
            <a:off x="3246120" y="4142232"/>
            <a:ext cx="5303520" cy="429768"/>
          </a:xfrm>
          <a:prstGeom prst="rect">
            <a:avLst/>
          </a:prstGeom>
          <a:noFill/>
          <a:ln/>
        </p:spPr>
        <p:txBody>
          <a:bodyPr wrap="square" lIns="0" tIns="0" rIns="0" bIns="0" rtlCol="0" anchor="ctr"/>
          <a:lstStyle/>
          <a:p>
            <a:pPr indent="0" marL="0">
              <a:lnSpc>
                <a:spcPct val="120000"/>
              </a:lnSpc>
              <a:buNone/>
            </a:pPr>
            <a:r>
              <a:rPr lang="en-US" sz="1100" dirty="0">
                <a:solidFill>
                  <a:srgbClr val="1F2933"/>
                </a:solidFill>
                <a:latin typeface="Calibri" pitchFamily="34" charset="0"/>
                <a:ea typeface="Calibri" pitchFamily="34" charset="-122"/>
                <a:cs typeface="Calibri" pitchFamily="34" charset="-120"/>
              </a:rPr>
              <a:t>Paste the deployed URL into the oral deck slide 11 and the README before submission.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Columbia University, STAT 5243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 5243 Project 4 — Knowhow Appendix</dc:title>
  <dc:subject>Technical-depth backup slides for Q&amp;A</dc:subject>
  <dc:creator>Zeming Liang, Xiying (Elina) Chen</dc:creator>
  <cp:lastModifiedBy>Zeming Liang, Xiying (Elina) Chen</cp:lastModifiedBy>
  <cp:revision>1</cp:revision>
  <dcterms:created xsi:type="dcterms:W3CDTF">2026-04-26T16:49:26Z</dcterms:created>
  <dcterms:modified xsi:type="dcterms:W3CDTF">2026-04-26T16:49:26Z</dcterms:modified>
</cp:coreProperties>
</file>